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Italics" charset="1" panose="020F05020202040A0204"/>
      <p:regular r:id="rId22"/>
    </p:embeddedFont>
    <p:embeddedFont>
      <p:font typeface="Calibri (MS) Bold" charset="1" panose="020F0702030404030204"/>
      <p:regular r:id="rId23"/>
    </p:embeddedFont>
    <p:embeddedFont>
      <p:font typeface="Calibri (MS)" charset="1" panose="020F0502020204030204"/>
      <p:regular r:id="rId24"/>
    </p:embeddedFont>
    <p:embeddedFont>
      <p:font typeface="Georgia Bold" charset="1" panose="020408020504050202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8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03303" y="-1841497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97BC62">
                <a:alpha val="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97BC62">
                <a:alpha val="862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83463" y="-561337"/>
            <a:ext cx="4597403" cy="4597403"/>
            <a:chOff x="0" y="0"/>
            <a:chExt cx="6129871" cy="612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97BC62">
                <a:alpha val="2470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97BC62">
                <a:alpha val="2470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841497" y="6388103"/>
            <a:ext cx="5511803" cy="5511803"/>
            <a:chOff x="0" y="0"/>
            <a:chExt cx="7349071" cy="7349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97BC62">
                <a:alpha val="5882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97BC62">
                <a:alpha val="588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86000" y="5807716"/>
            <a:ext cx="13716000" cy="1263086"/>
            <a:chOff x="0" y="0"/>
            <a:chExt cx="18288000" cy="16841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684114"/>
            </a:xfrm>
            <a:custGeom>
              <a:avLst/>
              <a:gdLst/>
              <a:ahLst/>
              <a:cxnLst/>
              <a:rect r="r" b="b" t="t" l="l"/>
              <a:pathLst>
                <a:path h="1684114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684114"/>
                  </a:lnTo>
                  <a:lnTo>
                    <a:pt x="0" y="16841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153" r="0" b="-1550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33350"/>
              <a:ext cx="18288000" cy="1817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Transforming Waste Into Best Eye Frames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94560" y="7213606"/>
            <a:ext cx="6426203" cy="116843"/>
            <a:chOff x="0" y="0"/>
            <a:chExt cx="8568271" cy="155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8534400" cy="121920"/>
            </a:xfrm>
            <a:custGeom>
              <a:avLst/>
              <a:gdLst/>
              <a:ahLst/>
              <a:cxnLst/>
              <a:rect r="r" b="b" t="t" l="l"/>
              <a:pathLst>
                <a:path h="1219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68182" cy="155704"/>
            </a:xfrm>
            <a:custGeom>
              <a:avLst/>
              <a:gdLst/>
              <a:ahLst/>
              <a:cxnLst/>
              <a:rect r="r" b="b" t="t" l="l"/>
              <a:pathLst>
                <a:path h="155704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38811"/>
                  </a:lnTo>
                  <a:cubicBezTo>
                    <a:pt x="8568182" y="148209"/>
                    <a:pt x="8560562" y="155702"/>
                    <a:pt x="85512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8551291" y="121920"/>
                  </a:lnTo>
                  <a:lnTo>
                    <a:pt x="8551291" y="138811"/>
                  </a:lnTo>
                  <a:lnTo>
                    <a:pt x="8534400" y="138811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81863" y="7213606"/>
            <a:ext cx="14832497" cy="1821552"/>
            <a:chOff x="0" y="0"/>
            <a:chExt cx="18288000" cy="22459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88000" cy="2245916"/>
            </a:xfrm>
            <a:custGeom>
              <a:avLst/>
              <a:gdLst/>
              <a:ahLst/>
              <a:cxnLst/>
              <a:rect r="r" b="b" t="t" l="l"/>
              <a:pathLst>
                <a:path h="224591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245916"/>
                  </a:lnTo>
                  <a:lnTo>
                    <a:pt x="0" y="2245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48" r="0" b="-803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8288000" cy="2331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Sustainable Eyewear Innovation  |  Dhaka, Bangladesh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56978" y="9258300"/>
            <a:ext cx="9144000" cy="640080"/>
            <a:chOff x="0" y="0"/>
            <a:chExt cx="1219200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21920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5D6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Founder: Jakir Hossain Joy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861514" y="442577"/>
            <a:ext cx="10564971" cy="5412764"/>
          </a:xfrm>
          <a:custGeom>
            <a:avLst/>
            <a:gdLst/>
            <a:ahLst/>
            <a:cxnLst/>
            <a:rect r="r" b="b" t="t" l="l"/>
            <a:pathLst>
              <a:path h="5412764" w="10564971">
                <a:moveTo>
                  <a:pt x="0" y="0"/>
                </a:moveTo>
                <a:lnTo>
                  <a:pt x="10564972" y="0"/>
                </a:lnTo>
                <a:lnTo>
                  <a:pt x="10564972" y="5412764"/>
                </a:lnTo>
                <a:lnTo>
                  <a:pt x="0" y="54127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194" r="0" b="-76991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THE PROBLEM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46503" y="353063"/>
            <a:ext cx="1031243" cy="1031243"/>
            <a:chOff x="0" y="0"/>
            <a:chExt cx="1374991" cy="1374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2273303"/>
            <a:ext cx="5511803" cy="6974843"/>
            <a:chOff x="0" y="0"/>
            <a:chExt cx="7349071" cy="9299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282811"/>
                  </a:lnTo>
                  <a:cubicBezTo>
                    <a:pt x="7348982" y="9292209"/>
                    <a:pt x="7341362" y="9299701"/>
                    <a:pt x="733209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332091" y="9265920"/>
                  </a:lnTo>
                  <a:lnTo>
                    <a:pt x="7332091" y="9282811"/>
                  </a:lnTo>
                  <a:lnTo>
                    <a:pt x="7315200" y="9282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6183" y="2547623"/>
            <a:ext cx="1671323" cy="1671323"/>
            <a:chOff x="0" y="0"/>
            <a:chExt cx="2228431" cy="22284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83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228342">
                  <a:moveTo>
                    <a:pt x="0" y="1114171"/>
                  </a:moveTo>
                  <a:cubicBezTo>
                    <a:pt x="0" y="498856"/>
                    <a:pt x="498856" y="0"/>
                    <a:pt x="1114171" y="0"/>
                  </a:cubicBezTo>
                  <a:lnTo>
                    <a:pt x="1114171" y="16891"/>
                  </a:lnTo>
                  <a:lnTo>
                    <a:pt x="1114171" y="0"/>
                  </a:lnTo>
                  <a:cubicBezTo>
                    <a:pt x="1729486" y="0"/>
                    <a:pt x="2228342" y="498856"/>
                    <a:pt x="2228342" y="1114171"/>
                  </a:cubicBezTo>
                  <a:lnTo>
                    <a:pt x="2211451" y="1114171"/>
                  </a:lnTo>
                  <a:lnTo>
                    <a:pt x="2228342" y="1114171"/>
                  </a:lnTo>
                  <a:cubicBezTo>
                    <a:pt x="2228342" y="1729486"/>
                    <a:pt x="1729486" y="2228342"/>
                    <a:pt x="1114171" y="2228342"/>
                  </a:cubicBezTo>
                  <a:lnTo>
                    <a:pt x="1114171" y="2211451"/>
                  </a:lnTo>
                  <a:lnTo>
                    <a:pt x="1114171" y="2228342"/>
                  </a:lnTo>
                  <a:cubicBezTo>
                    <a:pt x="498856" y="2228469"/>
                    <a:pt x="0" y="1729613"/>
                    <a:pt x="0" y="1114171"/>
                  </a:cubicBezTo>
                  <a:lnTo>
                    <a:pt x="16891" y="111417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0" y="1114171"/>
                  </a:lnTo>
                  <a:moveTo>
                    <a:pt x="33909" y="1114171"/>
                  </a:moveTo>
                  <a:cubicBezTo>
                    <a:pt x="33909" y="1123569"/>
                    <a:pt x="26289" y="1131062"/>
                    <a:pt x="17018" y="1131062"/>
                  </a:cubicBezTo>
                  <a:cubicBezTo>
                    <a:pt x="7747" y="1131062"/>
                    <a:pt x="0" y="1123569"/>
                    <a:pt x="0" y="1114171"/>
                  </a:cubicBezTo>
                  <a:cubicBezTo>
                    <a:pt x="0" y="1104773"/>
                    <a:pt x="7620" y="1097280"/>
                    <a:pt x="16891" y="1097280"/>
                  </a:cubicBezTo>
                  <a:cubicBezTo>
                    <a:pt x="26162" y="1097280"/>
                    <a:pt x="33782" y="1104900"/>
                    <a:pt x="33782" y="1114171"/>
                  </a:cubicBezTo>
                  <a:cubicBezTo>
                    <a:pt x="33782" y="1710817"/>
                    <a:pt x="517525" y="2194560"/>
                    <a:pt x="1114171" y="2194560"/>
                  </a:cubicBezTo>
                  <a:cubicBezTo>
                    <a:pt x="1710817" y="2194560"/>
                    <a:pt x="2194560" y="1710817"/>
                    <a:pt x="2194560" y="1114171"/>
                  </a:cubicBezTo>
                  <a:cubicBezTo>
                    <a:pt x="2194560" y="517525"/>
                    <a:pt x="1710817" y="33782"/>
                    <a:pt x="1114171" y="33782"/>
                  </a:cubicBezTo>
                  <a:lnTo>
                    <a:pt x="1114171" y="16891"/>
                  </a:lnTo>
                  <a:lnTo>
                    <a:pt x="1114171" y="33909"/>
                  </a:lnTo>
                  <a:cubicBezTo>
                    <a:pt x="517525" y="33909"/>
                    <a:pt x="33909" y="517525"/>
                    <a:pt x="33909" y="1114171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688336" y="2779776"/>
            <a:ext cx="1207008" cy="1207008"/>
            <a:chOff x="0" y="0"/>
            <a:chExt cx="1609344" cy="1609344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609344" cy="1609344"/>
            </a:xfrm>
            <a:custGeom>
              <a:avLst/>
              <a:gdLst/>
              <a:ahLst/>
              <a:cxnLst/>
              <a:rect r="r" b="b" t="t" l="l"/>
              <a:pathLst>
                <a:path h="1609344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09344"/>
                  </a:lnTo>
                  <a:lnTo>
                    <a:pt x="0" y="160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4480560"/>
            <a:ext cx="4937760" cy="914400"/>
            <a:chOff x="0" y="0"/>
            <a:chExt cx="658368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5836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Global Plastic Crisis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5575935"/>
            <a:ext cx="475488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Millions of tonnes of plastic waste accumulate in landfills and oceans each year, with no scalable solution in sight.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79543" y="2273303"/>
            <a:ext cx="5511803" cy="6974843"/>
            <a:chOff x="0" y="0"/>
            <a:chExt cx="7349071" cy="9299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3152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4898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282811"/>
                  </a:lnTo>
                  <a:cubicBezTo>
                    <a:pt x="7348982" y="9292209"/>
                    <a:pt x="7341362" y="9299701"/>
                    <a:pt x="733209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332091" y="9265920"/>
                  </a:lnTo>
                  <a:lnTo>
                    <a:pt x="7332091" y="9282811"/>
                  </a:lnTo>
                  <a:lnTo>
                    <a:pt x="7315200" y="9282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399783" y="2547623"/>
            <a:ext cx="1671323" cy="1671323"/>
            <a:chOff x="0" y="0"/>
            <a:chExt cx="2228431" cy="22284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283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228342">
                  <a:moveTo>
                    <a:pt x="0" y="1114171"/>
                  </a:moveTo>
                  <a:cubicBezTo>
                    <a:pt x="0" y="498856"/>
                    <a:pt x="498856" y="0"/>
                    <a:pt x="1114171" y="0"/>
                  </a:cubicBezTo>
                  <a:lnTo>
                    <a:pt x="1114171" y="16891"/>
                  </a:lnTo>
                  <a:lnTo>
                    <a:pt x="1114171" y="0"/>
                  </a:lnTo>
                  <a:cubicBezTo>
                    <a:pt x="1729486" y="0"/>
                    <a:pt x="2228342" y="498856"/>
                    <a:pt x="2228342" y="1114171"/>
                  </a:cubicBezTo>
                  <a:lnTo>
                    <a:pt x="2211451" y="1114171"/>
                  </a:lnTo>
                  <a:lnTo>
                    <a:pt x="2228342" y="1114171"/>
                  </a:lnTo>
                  <a:cubicBezTo>
                    <a:pt x="2228342" y="1729486"/>
                    <a:pt x="1729486" y="2228342"/>
                    <a:pt x="1114171" y="2228342"/>
                  </a:cubicBezTo>
                  <a:lnTo>
                    <a:pt x="1114171" y="2211451"/>
                  </a:lnTo>
                  <a:lnTo>
                    <a:pt x="1114171" y="2228342"/>
                  </a:lnTo>
                  <a:cubicBezTo>
                    <a:pt x="498856" y="2228469"/>
                    <a:pt x="0" y="1729613"/>
                    <a:pt x="0" y="1114171"/>
                  </a:cubicBezTo>
                  <a:lnTo>
                    <a:pt x="16891" y="111417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0" y="1114171"/>
                  </a:lnTo>
                  <a:moveTo>
                    <a:pt x="33909" y="1114171"/>
                  </a:moveTo>
                  <a:cubicBezTo>
                    <a:pt x="33909" y="1123569"/>
                    <a:pt x="26289" y="1131062"/>
                    <a:pt x="17018" y="1131062"/>
                  </a:cubicBezTo>
                  <a:cubicBezTo>
                    <a:pt x="7747" y="1131062"/>
                    <a:pt x="0" y="1123569"/>
                    <a:pt x="0" y="1114171"/>
                  </a:cubicBezTo>
                  <a:cubicBezTo>
                    <a:pt x="0" y="1104773"/>
                    <a:pt x="7620" y="1097280"/>
                    <a:pt x="16891" y="1097280"/>
                  </a:cubicBezTo>
                  <a:cubicBezTo>
                    <a:pt x="26162" y="1097280"/>
                    <a:pt x="33782" y="1104900"/>
                    <a:pt x="33782" y="1114171"/>
                  </a:cubicBezTo>
                  <a:cubicBezTo>
                    <a:pt x="33782" y="1710817"/>
                    <a:pt x="517525" y="2194560"/>
                    <a:pt x="1114171" y="2194560"/>
                  </a:cubicBezTo>
                  <a:cubicBezTo>
                    <a:pt x="1710817" y="2194560"/>
                    <a:pt x="2194560" y="1710817"/>
                    <a:pt x="2194560" y="1114171"/>
                  </a:cubicBezTo>
                  <a:cubicBezTo>
                    <a:pt x="2194560" y="517525"/>
                    <a:pt x="1710817" y="33782"/>
                    <a:pt x="1114171" y="33782"/>
                  </a:cubicBezTo>
                  <a:lnTo>
                    <a:pt x="1114171" y="16891"/>
                  </a:lnTo>
                  <a:lnTo>
                    <a:pt x="1114171" y="33909"/>
                  </a:lnTo>
                  <a:cubicBezTo>
                    <a:pt x="517525" y="33909"/>
                    <a:pt x="33909" y="517525"/>
                    <a:pt x="33909" y="1114171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631936" y="2779776"/>
            <a:ext cx="1207008" cy="1207008"/>
            <a:chOff x="0" y="0"/>
            <a:chExt cx="1609344" cy="1609344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609344" cy="1609344"/>
            </a:xfrm>
            <a:custGeom>
              <a:avLst/>
              <a:gdLst/>
              <a:ahLst/>
              <a:cxnLst/>
              <a:rect r="r" b="b" t="t" l="l"/>
              <a:pathLst>
                <a:path h="1609344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09344"/>
                  </a:lnTo>
                  <a:lnTo>
                    <a:pt x="0" y="160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766560" y="4480560"/>
            <a:ext cx="4937760" cy="914400"/>
            <a:chOff x="0" y="0"/>
            <a:chExt cx="658368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5836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Non-Recyclable Plastics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858000" y="5575935"/>
            <a:ext cx="475488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All types of plastic waste — bottles, containers, packaging — remain largely unrecycled due to lack of efficient technology.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423143" y="2273303"/>
            <a:ext cx="5511803" cy="6974843"/>
            <a:chOff x="0" y="0"/>
            <a:chExt cx="7349071" cy="92997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3152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48982" cy="9299701"/>
            </a:xfrm>
            <a:custGeom>
              <a:avLst/>
              <a:gdLst/>
              <a:ahLst/>
              <a:cxnLst/>
              <a:rect r="r" b="b" t="t" l="l"/>
              <a:pathLst>
                <a:path h="9299701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282811"/>
                  </a:lnTo>
                  <a:cubicBezTo>
                    <a:pt x="7348982" y="9292209"/>
                    <a:pt x="7341362" y="9299701"/>
                    <a:pt x="7332091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7332091" y="9265920"/>
                  </a:lnTo>
                  <a:lnTo>
                    <a:pt x="7332091" y="9282811"/>
                  </a:lnTo>
                  <a:lnTo>
                    <a:pt x="7315200" y="9282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343383" y="2547623"/>
            <a:ext cx="1671323" cy="1671323"/>
            <a:chOff x="0" y="0"/>
            <a:chExt cx="2228431" cy="22284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283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228342">
                  <a:moveTo>
                    <a:pt x="0" y="1114171"/>
                  </a:moveTo>
                  <a:cubicBezTo>
                    <a:pt x="0" y="498856"/>
                    <a:pt x="498856" y="0"/>
                    <a:pt x="1114171" y="0"/>
                  </a:cubicBezTo>
                  <a:lnTo>
                    <a:pt x="1114171" y="16891"/>
                  </a:lnTo>
                  <a:lnTo>
                    <a:pt x="1114171" y="0"/>
                  </a:lnTo>
                  <a:cubicBezTo>
                    <a:pt x="1729486" y="0"/>
                    <a:pt x="2228342" y="498856"/>
                    <a:pt x="2228342" y="1114171"/>
                  </a:cubicBezTo>
                  <a:lnTo>
                    <a:pt x="2211451" y="1114171"/>
                  </a:lnTo>
                  <a:lnTo>
                    <a:pt x="2228342" y="1114171"/>
                  </a:lnTo>
                  <a:cubicBezTo>
                    <a:pt x="2228342" y="1729486"/>
                    <a:pt x="1729486" y="2228342"/>
                    <a:pt x="1114171" y="2228342"/>
                  </a:cubicBezTo>
                  <a:lnTo>
                    <a:pt x="1114171" y="2211451"/>
                  </a:lnTo>
                  <a:lnTo>
                    <a:pt x="1114171" y="2228342"/>
                  </a:lnTo>
                  <a:cubicBezTo>
                    <a:pt x="498856" y="2228469"/>
                    <a:pt x="0" y="1729613"/>
                    <a:pt x="0" y="1114171"/>
                  </a:cubicBezTo>
                  <a:lnTo>
                    <a:pt x="16891" y="111417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0" y="1114171"/>
                  </a:lnTo>
                  <a:moveTo>
                    <a:pt x="33909" y="1114171"/>
                  </a:moveTo>
                  <a:cubicBezTo>
                    <a:pt x="33909" y="1123569"/>
                    <a:pt x="26289" y="1131062"/>
                    <a:pt x="17018" y="1131062"/>
                  </a:cubicBezTo>
                  <a:cubicBezTo>
                    <a:pt x="7747" y="1131062"/>
                    <a:pt x="0" y="1123569"/>
                    <a:pt x="0" y="1114171"/>
                  </a:cubicBezTo>
                  <a:cubicBezTo>
                    <a:pt x="0" y="1104773"/>
                    <a:pt x="7620" y="1097280"/>
                    <a:pt x="16891" y="1097280"/>
                  </a:cubicBezTo>
                  <a:cubicBezTo>
                    <a:pt x="26162" y="1097280"/>
                    <a:pt x="33782" y="1104900"/>
                    <a:pt x="33782" y="1114171"/>
                  </a:cubicBezTo>
                  <a:cubicBezTo>
                    <a:pt x="33782" y="1710817"/>
                    <a:pt x="517525" y="2194560"/>
                    <a:pt x="1114171" y="2194560"/>
                  </a:cubicBezTo>
                  <a:cubicBezTo>
                    <a:pt x="1710817" y="2194560"/>
                    <a:pt x="2194560" y="1710817"/>
                    <a:pt x="2194560" y="1114171"/>
                  </a:cubicBezTo>
                  <a:cubicBezTo>
                    <a:pt x="2194560" y="517525"/>
                    <a:pt x="1710817" y="33782"/>
                    <a:pt x="1114171" y="33782"/>
                  </a:cubicBezTo>
                  <a:lnTo>
                    <a:pt x="1114171" y="16891"/>
                  </a:lnTo>
                  <a:lnTo>
                    <a:pt x="1114171" y="33909"/>
                  </a:lnTo>
                  <a:cubicBezTo>
                    <a:pt x="517525" y="33909"/>
                    <a:pt x="33909" y="517525"/>
                    <a:pt x="33909" y="1114171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575536" y="2779776"/>
            <a:ext cx="1207008" cy="1207008"/>
            <a:chOff x="0" y="0"/>
            <a:chExt cx="1609344" cy="1609344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1609344" cy="1609344"/>
            </a:xfrm>
            <a:custGeom>
              <a:avLst/>
              <a:gdLst/>
              <a:ahLst/>
              <a:cxnLst/>
              <a:rect r="r" b="b" t="t" l="l"/>
              <a:pathLst>
                <a:path h="1609344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1609344"/>
                  </a:lnTo>
                  <a:lnTo>
                    <a:pt x="0" y="160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710160" y="4480560"/>
            <a:ext cx="4937760" cy="914400"/>
            <a:chOff x="0" y="0"/>
            <a:chExt cx="658368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836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658368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Wood Waste Ignored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801600" y="5575935"/>
            <a:ext cx="475488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444444"/>
                </a:solidFill>
                <a:latin typeface="Calibri (MS)"/>
                <a:ea typeface="Calibri (MS)"/>
                <a:cs typeface="Calibri (MS)"/>
                <a:sym typeface="Calibri (MS)"/>
              </a:rPr>
              <a:t>Wood offcuts and sawdust from furniture &amp; construction industries go to waste, representing an untapped raw material opportunity.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457200"/>
            <a:ext cx="14630400" cy="1280160"/>
            <a:chOff x="0" y="0"/>
            <a:chExt cx="195072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5072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1828800"/>
            <a:ext cx="15544800" cy="822960"/>
            <a:chOff x="0" y="0"/>
            <a:chExt cx="207264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050" r="0" b="-3180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07264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>
                  <a:solidFill>
                    <a:srgbClr val="97BC6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Re|Karts converts ALL plastic &amp; wood waste into premium eyewear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3096263"/>
            <a:ext cx="8072123" cy="2860043"/>
            <a:chOff x="0" y="0"/>
            <a:chExt cx="10762831" cy="38133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7289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27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3796411"/>
                  </a:lnTo>
                  <a:cubicBezTo>
                    <a:pt x="10762742" y="3805809"/>
                    <a:pt x="10755122" y="3813302"/>
                    <a:pt x="107458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0745851" y="3779520"/>
                  </a:lnTo>
                  <a:lnTo>
                    <a:pt x="10745851" y="3796411"/>
                  </a:lnTo>
                  <a:lnTo>
                    <a:pt x="10728960" y="37964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3096263"/>
            <a:ext cx="1671323" cy="2860043"/>
            <a:chOff x="0" y="0"/>
            <a:chExt cx="2228431" cy="3813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1945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83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3796411"/>
                  </a:lnTo>
                  <a:cubicBezTo>
                    <a:pt x="2228342" y="3805809"/>
                    <a:pt x="2220722" y="3813302"/>
                    <a:pt x="22114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211451" y="3779520"/>
                  </a:lnTo>
                  <a:lnTo>
                    <a:pt x="2211451" y="3796411"/>
                  </a:lnTo>
                  <a:lnTo>
                    <a:pt x="2194560" y="3796411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3877056"/>
            <a:ext cx="1097280" cy="1097280"/>
            <a:chOff x="0" y="0"/>
            <a:chExt cx="1463040" cy="146304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60320" y="3328416"/>
            <a:ext cx="5852160" cy="822960"/>
            <a:chOff x="0" y="0"/>
            <a:chExt cx="780288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02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8028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 Plastic Types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651760" y="4204335"/>
            <a:ext cx="56692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PET, HDPE, PVC, LDPE, PP, PS — we process all plastic waste streams, not just chip packets.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88503" y="3096263"/>
            <a:ext cx="8072123" cy="2860043"/>
            <a:chOff x="0" y="0"/>
            <a:chExt cx="10762831" cy="3813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7289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627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3796411"/>
                  </a:lnTo>
                  <a:cubicBezTo>
                    <a:pt x="10762742" y="3805809"/>
                    <a:pt x="10755122" y="3813302"/>
                    <a:pt x="107458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0745851" y="3779520"/>
                  </a:lnTo>
                  <a:lnTo>
                    <a:pt x="10745851" y="3796411"/>
                  </a:lnTo>
                  <a:lnTo>
                    <a:pt x="10728960" y="37964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88503" y="3096263"/>
            <a:ext cx="1671323" cy="2860043"/>
            <a:chOff x="0" y="0"/>
            <a:chExt cx="2228431" cy="3813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1945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283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3796411"/>
                  </a:lnTo>
                  <a:cubicBezTo>
                    <a:pt x="2228342" y="3805809"/>
                    <a:pt x="2220722" y="3813302"/>
                    <a:pt x="22114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211451" y="3779520"/>
                  </a:lnTo>
                  <a:lnTo>
                    <a:pt x="2211451" y="3796411"/>
                  </a:lnTo>
                  <a:lnTo>
                    <a:pt x="2194560" y="3796411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75520" y="3877056"/>
            <a:ext cx="1097280" cy="1097280"/>
            <a:chOff x="0" y="0"/>
            <a:chExt cx="1463040" cy="146304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430000" y="3328416"/>
            <a:ext cx="5852160" cy="822960"/>
            <a:chOff x="0" y="0"/>
            <a:chExt cx="78028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02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78028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Wood Waste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521440" y="4204335"/>
            <a:ext cx="56692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Sawdust &amp; offcuts from furniture factories, construction sites, and timber mills become premium wood-frame sunglasses.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18823" y="6296663"/>
            <a:ext cx="8072123" cy="2860043"/>
            <a:chOff x="0" y="0"/>
            <a:chExt cx="10762831" cy="38133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7289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627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3796411"/>
                  </a:lnTo>
                  <a:cubicBezTo>
                    <a:pt x="10762742" y="3805809"/>
                    <a:pt x="10755122" y="3813302"/>
                    <a:pt x="107458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0745851" y="3779520"/>
                  </a:lnTo>
                  <a:lnTo>
                    <a:pt x="10745851" y="3796411"/>
                  </a:lnTo>
                  <a:lnTo>
                    <a:pt x="10728960" y="37964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6296663"/>
            <a:ext cx="1671323" cy="2860043"/>
            <a:chOff x="0" y="0"/>
            <a:chExt cx="2228431" cy="38133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1945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283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3796411"/>
                  </a:lnTo>
                  <a:cubicBezTo>
                    <a:pt x="2228342" y="3805809"/>
                    <a:pt x="2220722" y="3813302"/>
                    <a:pt x="22114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211451" y="3779520"/>
                  </a:lnTo>
                  <a:lnTo>
                    <a:pt x="2211451" y="3796411"/>
                  </a:lnTo>
                  <a:lnTo>
                    <a:pt x="2194560" y="3796411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" y="7077456"/>
            <a:ext cx="1097280" cy="1097280"/>
            <a:chOff x="0" y="0"/>
            <a:chExt cx="1463040" cy="146304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560320" y="6528816"/>
            <a:ext cx="5852160" cy="822960"/>
            <a:chOff x="0" y="0"/>
            <a:chExt cx="780288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02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78028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Eco-Friendly Process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651760" y="7404735"/>
            <a:ext cx="56692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Energy-efficient processing with near-zero emissions. A circular economy model from collection to product.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588503" y="6296663"/>
            <a:ext cx="8072123" cy="2860043"/>
            <a:chOff x="0" y="0"/>
            <a:chExt cx="10762831" cy="38133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7289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7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3796411"/>
                  </a:lnTo>
                  <a:cubicBezTo>
                    <a:pt x="10762742" y="3805809"/>
                    <a:pt x="10755122" y="3813302"/>
                    <a:pt x="107458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0745851" y="3779520"/>
                  </a:lnTo>
                  <a:lnTo>
                    <a:pt x="10745851" y="3796411"/>
                  </a:lnTo>
                  <a:lnTo>
                    <a:pt x="10728960" y="37964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88503" y="6296663"/>
            <a:ext cx="1671323" cy="2860043"/>
            <a:chOff x="0" y="0"/>
            <a:chExt cx="2228431" cy="38133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1945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28342" cy="3813302"/>
            </a:xfrm>
            <a:custGeom>
              <a:avLst/>
              <a:gdLst/>
              <a:ahLst/>
              <a:cxnLst/>
              <a:rect r="r" b="b" t="t" l="l"/>
              <a:pathLst>
                <a:path h="3813302" w="2228342">
                  <a:moveTo>
                    <a:pt x="16891" y="0"/>
                  </a:moveTo>
                  <a:lnTo>
                    <a:pt x="2211451" y="0"/>
                  </a:lnTo>
                  <a:cubicBezTo>
                    <a:pt x="2220849" y="0"/>
                    <a:pt x="2228342" y="7620"/>
                    <a:pt x="2228342" y="16891"/>
                  </a:cubicBezTo>
                  <a:lnTo>
                    <a:pt x="2228342" y="3796411"/>
                  </a:lnTo>
                  <a:cubicBezTo>
                    <a:pt x="2228342" y="3805809"/>
                    <a:pt x="2220722" y="3813302"/>
                    <a:pt x="221145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2211451" y="3779520"/>
                  </a:lnTo>
                  <a:lnTo>
                    <a:pt x="2211451" y="3796411"/>
                  </a:lnTo>
                  <a:lnTo>
                    <a:pt x="2194560" y="3796411"/>
                  </a:lnTo>
                  <a:lnTo>
                    <a:pt x="2194560" y="16891"/>
                  </a:lnTo>
                  <a:lnTo>
                    <a:pt x="2211451" y="16891"/>
                  </a:lnTo>
                  <a:lnTo>
                    <a:pt x="2211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875520" y="7077456"/>
            <a:ext cx="1097280" cy="1097280"/>
            <a:chOff x="0" y="0"/>
            <a:chExt cx="1463040" cy="146304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430000" y="6528816"/>
            <a:ext cx="5852160" cy="822960"/>
            <a:chOff x="0" y="0"/>
            <a:chExt cx="780288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802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78028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2C5F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Premium Products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521440" y="7404735"/>
            <a:ext cx="566928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Durable, stylish, customizable sunglasses frames — both recycled plastic and reclaimed wood variants.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RAW MATERIALS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181863"/>
            <a:ext cx="8072123" cy="7157723"/>
            <a:chOff x="0" y="0"/>
            <a:chExt cx="10762831" cy="95436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7289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2742" cy="9543542"/>
            </a:xfrm>
            <a:custGeom>
              <a:avLst/>
              <a:gdLst/>
              <a:ahLst/>
              <a:cxnLst/>
              <a:rect r="r" b="b" t="t" l="l"/>
              <a:pathLst>
                <a:path h="95435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526651"/>
                  </a:lnTo>
                  <a:cubicBezTo>
                    <a:pt x="10762742" y="9536049"/>
                    <a:pt x="10755122" y="9543542"/>
                    <a:pt x="1074585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10745851" y="9509760"/>
                  </a:lnTo>
                  <a:lnTo>
                    <a:pt x="10745851" y="9526651"/>
                  </a:lnTo>
                  <a:lnTo>
                    <a:pt x="10728960" y="95266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2181863"/>
            <a:ext cx="8072123" cy="1031243"/>
            <a:chOff x="0" y="0"/>
            <a:chExt cx="10762831" cy="1374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358011"/>
                  </a:lnTo>
                  <a:cubicBezTo>
                    <a:pt x="10762742" y="1367409"/>
                    <a:pt x="10755122" y="1374902"/>
                    <a:pt x="1074585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745851" y="1341120"/>
                  </a:lnTo>
                  <a:lnTo>
                    <a:pt x="10745851" y="1358011"/>
                  </a:lnTo>
                  <a:lnTo>
                    <a:pt x="10728960" y="13580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286000"/>
            <a:ext cx="7498080" cy="822960"/>
            <a:chOff x="0" y="0"/>
            <a:chExt cx="99974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9974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♻  PLASTIC WASTE TYPES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5840" y="3482340"/>
            <a:ext cx="7132320" cy="543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PET (Bottles, packaging)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HDPE (Containers, pipes)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PVC (Pipes, window frames)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LDPE (Bags, film packaging)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PP (Caps, straws, chip packets)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PS (Foam cups, disposables)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Mixed / Multilayer packaging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79943" y="2181863"/>
            <a:ext cx="8072123" cy="7157723"/>
            <a:chOff x="0" y="0"/>
            <a:chExt cx="10762831" cy="95436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107289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62742" cy="9543542"/>
            </a:xfrm>
            <a:custGeom>
              <a:avLst/>
              <a:gdLst/>
              <a:ahLst/>
              <a:cxnLst/>
              <a:rect r="r" b="b" t="t" l="l"/>
              <a:pathLst>
                <a:path h="954354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9526651"/>
                  </a:lnTo>
                  <a:cubicBezTo>
                    <a:pt x="10762742" y="9536049"/>
                    <a:pt x="10755122" y="9543542"/>
                    <a:pt x="1074585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10745851" y="9509760"/>
                  </a:lnTo>
                  <a:lnTo>
                    <a:pt x="10745851" y="9526651"/>
                  </a:lnTo>
                  <a:lnTo>
                    <a:pt x="10728960" y="952665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79943" y="2181863"/>
            <a:ext cx="8072123" cy="1031243"/>
            <a:chOff x="0" y="0"/>
            <a:chExt cx="10762831" cy="1374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07289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5D4037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6274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358011"/>
                  </a:lnTo>
                  <a:cubicBezTo>
                    <a:pt x="10762742" y="1367409"/>
                    <a:pt x="10755122" y="1374902"/>
                    <a:pt x="1074585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745851" y="1341120"/>
                  </a:lnTo>
                  <a:lnTo>
                    <a:pt x="10745851" y="1358011"/>
                  </a:lnTo>
                  <a:lnTo>
                    <a:pt x="10728960" y="13580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D403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66960" y="2286000"/>
            <a:ext cx="7498080" cy="822960"/>
            <a:chOff x="0" y="0"/>
            <a:chExt cx="999744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9974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🪵  WOOD WASTE TYPES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058400" y="3482340"/>
            <a:ext cx="7132320" cy="543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Sawdust (furniture factories)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Wood offcuts &amp; trimmings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Construction timber scrap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Plywood &amp; MDF offcuts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Bamboo waste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Cork &amp; natural wood chips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PRODUCTION PROCESS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731520"/>
            <a:chOff x="0" y="0"/>
            <a:chExt cx="219456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97BC6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Two parallel recycling pipelines — Plastic &amp; Wood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50343" y="2913383"/>
            <a:ext cx="1579883" cy="1579883"/>
            <a:chOff x="0" y="0"/>
            <a:chExt cx="2106511" cy="2106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lnTo>
                    <a:pt x="1053211" y="16891"/>
                  </a:lnTo>
                  <a:lnTo>
                    <a:pt x="1053211" y="0"/>
                  </a:lnTo>
                  <a:cubicBezTo>
                    <a:pt x="1634871" y="0"/>
                    <a:pt x="2106422" y="471551"/>
                    <a:pt x="2106422" y="1053211"/>
                  </a:cubicBezTo>
                  <a:lnTo>
                    <a:pt x="2089531" y="1053211"/>
                  </a:lnTo>
                  <a:lnTo>
                    <a:pt x="2106422" y="1053211"/>
                  </a:lnTo>
                  <a:cubicBezTo>
                    <a:pt x="2106422" y="1634871"/>
                    <a:pt x="1634871" y="2106422"/>
                    <a:pt x="1053211" y="2106422"/>
                  </a:cubicBezTo>
                  <a:lnTo>
                    <a:pt x="1053211" y="2089531"/>
                  </a:lnTo>
                  <a:lnTo>
                    <a:pt x="1053211" y="2106422"/>
                  </a:lnTo>
                  <a:cubicBezTo>
                    <a:pt x="471551" y="2106549"/>
                    <a:pt x="0" y="1634998"/>
                    <a:pt x="0" y="1053211"/>
                  </a:cubicBezTo>
                  <a:lnTo>
                    <a:pt x="16891" y="105321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0" y="1053211"/>
                  </a:lnTo>
                  <a:moveTo>
                    <a:pt x="33909" y="1053211"/>
                  </a:moveTo>
                  <a:cubicBezTo>
                    <a:pt x="33909" y="1062609"/>
                    <a:pt x="26289" y="1070102"/>
                    <a:pt x="17018" y="1070102"/>
                  </a:cubicBezTo>
                  <a:cubicBezTo>
                    <a:pt x="7747" y="1070102"/>
                    <a:pt x="0" y="1062609"/>
                    <a:pt x="0" y="1053211"/>
                  </a:cubicBezTo>
                  <a:cubicBezTo>
                    <a:pt x="0" y="1043813"/>
                    <a:pt x="7620" y="1036320"/>
                    <a:pt x="16891" y="1036320"/>
                  </a:cubicBezTo>
                  <a:cubicBezTo>
                    <a:pt x="26162" y="1036320"/>
                    <a:pt x="33782" y="1043940"/>
                    <a:pt x="33782" y="1053211"/>
                  </a:cubicBezTo>
                  <a:cubicBezTo>
                    <a:pt x="33782" y="1616202"/>
                    <a:pt x="490220" y="2072640"/>
                    <a:pt x="1053211" y="2072640"/>
                  </a:cubicBezTo>
                  <a:cubicBezTo>
                    <a:pt x="1616202" y="2072640"/>
                    <a:pt x="2072640" y="1616202"/>
                    <a:pt x="2072640" y="1053211"/>
                  </a:cubicBezTo>
                  <a:cubicBezTo>
                    <a:pt x="2072640" y="490220"/>
                    <a:pt x="1616202" y="33782"/>
                    <a:pt x="1053211" y="33782"/>
                  </a:cubicBezTo>
                  <a:lnTo>
                    <a:pt x="1053211" y="16891"/>
                  </a:lnTo>
                  <a:lnTo>
                    <a:pt x="1053211" y="33909"/>
                  </a:lnTo>
                  <a:cubicBezTo>
                    <a:pt x="490220" y="33909"/>
                    <a:pt x="33909" y="490220"/>
                    <a:pt x="33909" y="1053211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2926080"/>
            <a:ext cx="1554480" cy="1554480"/>
            <a:chOff x="0" y="0"/>
            <a:chExt cx="2072640" cy="2072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072640" cy="2072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96263" y="3599183"/>
            <a:ext cx="848363" cy="153419"/>
            <a:chOff x="0" y="0"/>
            <a:chExt cx="1131151" cy="204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9728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1062" cy="204472"/>
            </a:xfrm>
            <a:custGeom>
              <a:avLst/>
              <a:gdLst/>
              <a:ahLst/>
              <a:cxnLst/>
              <a:rect r="r" b="b" t="t" l="l"/>
              <a:pathLst>
                <a:path h="204472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87579"/>
                  </a:lnTo>
                  <a:cubicBezTo>
                    <a:pt x="1131062" y="196977"/>
                    <a:pt x="1123442" y="204470"/>
                    <a:pt x="111417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14171" y="170688"/>
                  </a:lnTo>
                  <a:lnTo>
                    <a:pt x="1114171" y="187579"/>
                  </a:lnTo>
                  <a:lnTo>
                    <a:pt x="1097280" y="187579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10263" y="4833623"/>
            <a:ext cx="2860043" cy="4780283"/>
            <a:chOff x="0" y="0"/>
            <a:chExt cx="3813391" cy="63737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3779520" cy="6339840"/>
            </a:xfrm>
            <a:custGeom>
              <a:avLst/>
              <a:gdLst/>
              <a:ahLst/>
              <a:cxnLst/>
              <a:rect r="r" b="b" t="t" l="l"/>
              <a:pathLst>
                <a:path h="633984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3302" cy="6373622"/>
            </a:xfrm>
            <a:custGeom>
              <a:avLst/>
              <a:gdLst/>
              <a:ahLst/>
              <a:cxnLst/>
              <a:rect r="r" b="b" t="t" l="l"/>
              <a:pathLst>
                <a:path h="637362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6356731"/>
                  </a:lnTo>
                  <a:cubicBezTo>
                    <a:pt x="3813302" y="6366129"/>
                    <a:pt x="3805682" y="6373622"/>
                    <a:pt x="379641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3796411" y="6339840"/>
                  </a:lnTo>
                  <a:lnTo>
                    <a:pt x="3796411" y="6356731"/>
                  </a:lnTo>
                  <a:lnTo>
                    <a:pt x="3779520" y="635673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4937760"/>
            <a:ext cx="2834640" cy="731520"/>
            <a:chOff x="0" y="0"/>
            <a:chExt cx="377952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Collection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14400" y="5768340"/>
            <a:ext cx="2651760" cy="342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BBBBBB"/>
                </a:solidFill>
                <a:latin typeface="Calibri (MS)"/>
                <a:ea typeface="Calibri (MS)"/>
                <a:cs typeface="Calibri (MS)"/>
                <a:sym typeface="Calibri (MS)"/>
              </a:rPr>
              <a:t>Plastic waste &amp; wood offcuts gathered from households, factories, restaurants, and construction sites.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925063" y="2913383"/>
            <a:ext cx="1579883" cy="1579883"/>
            <a:chOff x="0" y="0"/>
            <a:chExt cx="2106511" cy="21065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lnTo>
                    <a:pt x="1053211" y="16891"/>
                  </a:lnTo>
                  <a:lnTo>
                    <a:pt x="1053211" y="0"/>
                  </a:lnTo>
                  <a:cubicBezTo>
                    <a:pt x="1634871" y="0"/>
                    <a:pt x="2106422" y="471551"/>
                    <a:pt x="2106422" y="1053211"/>
                  </a:cubicBezTo>
                  <a:lnTo>
                    <a:pt x="2089531" y="1053211"/>
                  </a:lnTo>
                  <a:lnTo>
                    <a:pt x="2106422" y="1053211"/>
                  </a:lnTo>
                  <a:cubicBezTo>
                    <a:pt x="2106422" y="1634871"/>
                    <a:pt x="1634871" y="2106422"/>
                    <a:pt x="1053211" y="2106422"/>
                  </a:cubicBezTo>
                  <a:lnTo>
                    <a:pt x="1053211" y="2089531"/>
                  </a:lnTo>
                  <a:lnTo>
                    <a:pt x="1053211" y="2106422"/>
                  </a:lnTo>
                  <a:cubicBezTo>
                    <a:pt x="471551" y="2106549"/>
                    <a:pt x="0" y="1634998"/>
                    <a:pt x="0" y="1053211"/>
                  </a:cubicBezTo>
                  <a:lnTo>
                    <a:pt x="16891" y="105321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0" y="1053211"/>
                  </a:lnTo>
                  <a:moveTo>
                    <a:pt x="33909" y="1053211"/>
                  </a:moveTo>
                  <a:cubicBezTo>
                    <a:pt x="33909" y="1062609"/>
                    <a:pt x="26289" y="1070102"/>
                    <a:pt x="17018" y="1070102"/>
                  </a:cubicBezTo>
                  <a:cubicBezTo>
                    <a:pt x="7747" y="1070102"/>
                    <a:pt x="0" y="1062609"/>
                    <a:pt x="0" y="1053211"/>
                  </a:cubicBezTo>
                  <a:cubicBezTo>
                    <a:pt x="0" y="1043813"/>
                    <a:pt x="7620" y="1036320"/>
                    <a:pt x="16891" y="1036320"/>
                  </a:cubicBezTo>
                  <a:cubicBezTo>
                    <a:pt x="26162" y="1036320"/>
                    <a:pt x="33782" y="1043940"/>
                    <a:pt x="33782" y="1053211"/>
                  </a:cubicBezTo>
                  <a:cubicBezTo>
                    <a:pt x="33782" y="1616202"/>
                    <a:pt x="490220" y="2072640"/>
                    <a:pt x="1053211" y="2072640"/>
                  </a:cubicBezTo>
                  <a:cubicBezTo>
                    <a:pt x="1616202" y="2072640"/>
                    <a:pt x="2072640" y="1616202"/>
                    <a:pt x="2072640" y="1053211"/>
                  </a:cubicBezTo>
                  <a:cubicBezTo>
                    <a:pt x="2072640" y="490220"/>
                    <a:pt x="1616202" y="33782"/>
                    <a:pt x="1053211" y="33782"/>
                  </a:cubicBezTo>
                  <a:lnTo>
                    <a:pt x="1053211" y="16891"/>
                  </a:lnTo>
                  <a:lnTo>
                    <a:pt x="1053211" y="33909"/>
                  </a:lnTo>
                  <a:cubicBezTo>
                    <a:pt x="490220" y="33909"/>
                    <a:pt x="33909" y="490220"/>
                    <a:pt x="33909" y="1053211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937760" y="2926080"/>
            <a:ext cx="1554480" cy="1554480"/>
            <a:chOff x="0" y="0"/>
            <a:chExt cx="2072640" cy="2072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072640" cy="2072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70983" y="3599183"/>
            <a:ext cx="848363" cy="153419"/>
            <a:chOff x="0" y="0"/>
            <a:chExt cx="1131151" cy="2045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09728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1062" cy="204472"/>
            </a:xfrm>
            <a:custGeom>
              <a:avLst/>
              <a:gdLst/>
              <a:ahLst/>
              <a:cxnLst/>
              <a:rect r="r" b="b" t="t" l="l"/>
              <a:pathLst>
                <a:path h="204472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87579"/>
                  </a:lnTo>
                  <a:cubicBezTo>
                    <a:pt x="1131062" y="196977"/>
                    <a:pt x="1123442" y="204470"/>
                    <a:pt x="111417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14171" y="170688"/>
                  </a:lnTo>
                  <a:lnTo>
                    <a:pt x="1114171" y="187579"/>
                  </a:lnTo>
                  <a:lnTo>
                    <a:pt x="1097280" y="187579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284983" y="4833623"/>
            <a:ext cx="2860043" cy="4780283"/>
            <a:chOff x="0" y="0"/>
            <a:chExt cx="3813391" cy="63737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3779520" cy="6339840"/>
            </a:xfrm>
            <a:custGeom>
              <a:avLst/>
              <a:gdLst/>
              <a:ahLst/>
              <a:cxnLst/>
              <a:rect r="r" b="b" t="t" l="l"/>
              <a:pathLst>
                <a:path h="633984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13302" cy="6373622"/>
            </a:xfrm>
            <a:custGeom>
              <a:avLst/>
              <a:gdLst/>
              <a:ahLst/>
              <a:cxnLst/>
              <a:rect r="r" b="b" t="t" l="l"/>
              <a:pathLst>
                <a:path h="637362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6356731"/>
                  </a:lnTo>
                  <a:cubicBezTo>
                    <a:pt x="3813302" y="6366129"/>
                    <a:pt x="3805682" y="6373622"/>
                    <a:pt x="379641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3796411" y="6339840"/>
                  </a:lnTo>
                  <a:lnTo>
                    <a:pt x="3796411" y="6356731"/>
                  </a:lnTo>
                  <a:lnTo>
                    <a:pt x="3779520" y="635673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297680" y="4937760"/>
            <a:ext cx="2834640" cy="731520"/>
            <a:chOff x="0" y="0"/>
            <a:chExt cx="377952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Sorting &amp; Cleaning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389120" y="5768340"/>
            <a:ext cx="2651760" cy="342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BBBBBB"/>
                </a:solidFill>
                <a:latin typeface="Calibri (MS)"/>
                <a:ea typeface="Calibri (MS)"/>
                <a:cs typeface="Calibri (MS)"/>
                <a:sym typeface="Calibri (MS)"/>
              </a:rPr>
              <a:t>Materials sorted by type, thoroughly cleaned and contaminant-free before processing.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399783" y="2913383"/>
            <a:ext cx="1579883" cy="1579883"/>
            <a:chOff x="0" y="0"/>
            <a:chExt cx="2106511" cy="21065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lnTo>
                    <a:pt x="1053211" y="16891"/>
                  </a:lnTo>
                  <a:lnTo>
                    <a:pt x="1053211" y="0"/>
                  </a:lnTo>
                  <a:cubicBezTo>
                    <a:pt x="1634871" y="0"/>
                    <a:pt x="2106422" y="471551"/>
                    <a:pt x="2106422" y="1053211"/>
                  </a:cubicBezTo>
                  <a:lnTo>
                    <a:pt x="2089531" y="1053211"/>
                  </a:lnTo>
                  <a:lnTo>
                    <a:pt x="2106422" y="1053211"/>
                  </a:lnTo>
                  <a:cubicBezTo>
                    <a:pt x="2106422" y="1634871"/>
                    <a:pt x="1634871" y="2106422"/>
                    <a:pt x="1053211" y="2106422"/>
                  </a:cubicBezTo>
                  <a:lnTo>
                    <a:pt x="1053211" y="2089531"/>
                  </a:lnTo>
                  <a:lnTo>
                    <a:pt x="1053211" y="2106422"/>
                  </a:lnTo>
                  <a:cubicBezTo>
                    <a:pt x="471551" y="2106549"/>
                    <a:pt x="0" y="1634998"/>
                    <a:pt x="0" y="1053211"/>
                  </a:cubicBezTo>
                  <a:lnTo>
                    <a:pt x="16891" y="105321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0" y="1053211"/>
                  </a:lnTo>
                  <a:moveTo>
                    <a:pt x="33909" y="1053211"/>
                  </a:moveTo>
                  <a:cubicBezTo>
                    <a:pt x="33909" y="1062609"/>
                    <a:pt x="26289" y="1070102"/>
                    <a:pt x="17018" y="1070102"/>
                  </a:cubicBezTo>
                  <a:cubicBezTo>
                    <a:pt x="7747" y="1070102"/>
                    <a:pt x="0" y="1062609"/>
                    <a:pt x="0" y="1053211"/>
                  </a:cubicBezTo>
                  <a:cubicBezTo>
                    <a:pt x="0" y="1043813"/>
                    <a:pt x="7620" y="1036320"/>
                    <a:pt x="16891" y="1036320"/>
                  </a:cubicBezTo>
                  <a:cubicBezTo>
                    <a:pt x="26162" y="1036320"/>
                    <a:pt x="33782" y="1043940"/>
                    <a:pt x="33782" y="1053211"/>
                  </a:cubicBezTo>
                  <a:cubicBezTo>
                    <a:pt x="33782" y="1616202"/>
                    <a:pt x="490220" y="2072640"/>
                    <a:pt x="1053211" y="2072640"/>
                  </a:cubicBezTo>
                  <a:cubicBezTo>
                    <a:pt x="1616202" y="2072640"/>
                    <a:pt x="2072640" y="1616202"/>
                    <a:pt x="2072640" y="1053211"/>
                  </a:cubicBezTo>
                  <a:cubicBezTo>
                    <a:pt x="2072640" y="490220"/>
                    <a:pt x="1616202" y="33782"/>
                    <a:pt x="1053211" y="33782"/>
                  </a:cubicBezTo>
                  <a:lnTo>
                    <a:pt x="1053211" y="16891"/>
                  </a:lnTo>
                  <a:lnTo>
                    <a:pt x="1053211" y="33909"/>
                  </a:lnTo>
                  <a:cubicBezTo>
                    <a:pt x="490220" y="33909"/>
                    <a:pt x="33909" y="490220"/>
                    <a:pt x="33909" y="1053211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412480" y="2926080"/>
            <a:ext cx="1554480" cy="1554480"/>
            <a:chOff x="0" y="0"/>
            <a:chExt cx="2072640" cy="2072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072640" cy="2072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045703" y="3599183"/>
            <a:ext cx="848363" cy="153419"/>
            <a:chOff x="0" y="0"/>
            <a:chExt cx="1131151" cy="20455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09728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31062" cy="204472"/>
            </a:xfrm>
            <a:custGeom>
              <a:avLst/>
              <a:gdLst/>
              <a:ahLst/>
              <a:cxnLst/>
              <a:rect r="r" b="b" t="t" l="l"/>
              <a:pathLst>
                <a:path h="204472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87579"/>
                  </a:lnTo>
                  <a:cubicBezTo>
                    <a:pt x="1131062" y="196977"/>
                    <a:pt x="1123442" y="204470"/>
                    <a:pt x="111417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14171" y="170688"/>
                  </a:lnTo>
                  <a:lnTo>
                    <a:pt x="1114171" y="187579"/>
                  </a:lnTo>
                  <a:lnTo>
                    <a:pt x="1097280" y="187579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759703" y="4833623"/>
            <a:ext cx="2860043" cy="4780283"/>
            <a:chOff x="0" y="0"/>
            <a:chExt cx="3813391" cy="63737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3779520" cy="6339840"/>
            </a:xfrm>
            <a:custGeom>
              <a:avLst/>
              <a:gdLst/>
              <a:ahLst/>
              <a:cxnLst/>
              <a:rect r="r" b="b" t="t" l="l"/>
              <a:pathLst>
                <a:path h="633984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813302" cy="6373622"/>
            </a:xfrm>
            <a:custGeom>
              <a:avLst/>
              <a:gdLst/>
              <a:ahLst/>
              <a:cxnLst/>
              <a:rect r="r" b="b" t="t" l="l"/>
              <a:pathLst>
                <a:path h="637362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6356731"/>
                  </a:lnTo>
                  <a:cubicBezTo>
                    <a:pt x="3813302" y="6366129"/>
                    <a:pt x="3805682" y="6373622"/>
                    <a:pt x="379641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3796411" y="6339840"/>
                  </a:lnTo>
                  <a:lnTo>
                    <a:pt x="3796411" y="6356731"/>
                  </a:lnTo>
                  <a:lnTo>
                    <a:pt x="3779520" y="635673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72400" y="4937760"/>
            <a:ext cx="2834640" cy="731520"/>
            <a:chOff x="0" y="0"/>
            <a:chExt cx="3779520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Processing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7863840" y="5768340"/>
            <a:ext cx="2651760" cy="342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BBBBBB"/>
                </a:solidFill>
                <a:latin typeface="Calibri (MS)"/>
                <a:ea typeface="Calibri (MS)"/>
                <a:cs typeface="Calibri (MS)"/>
                <a:sym typeface="Calibri (MS)"/>
              </a:rPr>
              <a:t>Plastic: Shredded → Pelletized. Wood: Ground into composite powder or laminated sheets.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1874503" y="2913383"/>
            <a:ext cx="1579883" cy="1579883"/>
            <a:chOff x="0" y="0"/>
            <a:chExt cx="2106511" cy="21065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lnTo>
                    <a:pt x="1053211" y="16891"/>
                  </a:lnTo>
                  <a:lnTo>
                    <a:pt x="1053211" y="0"/>
                  </a:lnTo>
                  <a:cubicBezTo>
                    <a:pt x="1634871" y="0"/>
                    <a:pt x="2106422" y="471551"/>
                    <a:pt x="2106422" y="1053211"/>
                  </a:cubicBezTo>
                  <a:lnTo>
                    <a:pt x="2089531" y="1053211"/>
                  </a:lnTo>
                  <a:lnTo>
                    <a:pt x="2106422" y="1053211"/>
                  </a:lnTo>
                  <a:cubicBezTo>
                    <a:pt x="2106422" y="1634871"/>
                    <a:pt x="1634871" y="2106422"/>
                    <a:pt x="1053211" y="2106422"/>
                  </a:cubicBezTo>
                  <a:lnTo>
                    <a:pt x="1053211" y="2089531"/>
                  </a:lnTo>
                  <a:lnTo>
                    <a:pt x="1053211" y="2106422"/>
                  </a:lnTo>
                  <a:cubicBezTo>
                    <a:pt x="471551" y="2106549"/>
                    <a:pt x="0" y="1634998"/>
                    <a:pt x="0" y="1053211"/>
                  </a:cubicBezTo>
                  <a:lnTo>
                    <a:pt x="16891" y="105321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0" y="1053211"/>
                  </a:lnTo>
                  <a:moveTo>
                    <a:pt x="33909" y="1053211"/>
                  </a:moveTo>
                  <a:cubicBezTo>
                    <a:pt x="33909" y="1062609"/>
                    <a:pt x="26289" y="1070102"/>
                    <a:pt x="17018" y="1070102"/>
                  </a:cubicBezTo>
                  <a:cubicBezTo>
                    <a:pt x="7747" y="1070102"/>
                    <a:pt x="0" y="1062609"/>
                    <a:pt x="0" y="1053211"/>
                  </a:cubicBezTo>
                  <a:cubicBezTo>
                    <a:pt x="0" y="1043813"/>
                    <a:pt x="7620" y="1036320"/>
                    <a:pt x="16891" y="1036320"/>
                  </a:cubicBezTo>
                  <a:cubicBezTo>
                    <a:pt x="26162" y="1036320"/>
                    <a:pt x="33782" y="1043940"/>
                    <a:pt x="33782" y="1053211"/>
                  </a:cubicBezTo>
                  <a:cubicBezTo>
                    <a:pt x="33782" y="1616202"/>
                    <a:pt x="490220" y="2072640"/>
                    <a:pt x="1053211" y="2072640"/>
                  </a:cubicBezTo>
                  <a:cubicBezTo>
                    <a:pt x="1616202" y="2072640"/>
                    <a:pt x="2072640" y="1616202"/>
                    <a:pt x="2072640" y="1053211"/>
                  </a:cubicBezTo>
                  <a:cubicBezTo>
                    <a:pt x="2072640" y="490220"/>
                    <a:pt x="1616202" y="33782"/>
                    <a:pt x="1053211" y="33782"/>
                  </a:cubicBezTo>
                  <a:lnTo>
                    <a:pt x="1053211" y="16891"/>
                  </a:lnTo>
                  <a:lnTo>
                    <a:pt x="1053211" y="33909"/>
                  </a:lnTo>
                  <a:cubicBezTo>
                    <a:pt x="490220" y="33909"/>
                    <a:pt x="33909" y="490220"/>
                    <a:pt x="33909" y="1053211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887200" y="2926080"/>
            <a:ext cx="1554480" cy="1554480"/>
            <a:chOff x="0" y="0"/>
            <a:chExt cx="2072640" cy="2072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072640" cy="2072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520423" y="3599183"/>
            <a:ext cx="848363" cy="153419"/>
            <a:chOff x="0" y="0"/>
            <a:chExt cx="1131151" cy="2045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97280" cy="170688"/>
            </a:xfrm>
            <a:custGeom>
              <a:avLst/>
              <a:gdLst/>
              <a:ahLst/>
              <a:cxnLst/>
              <a:rect r="r" b="b" t="t" l="l"/>
              <a:pathLst>
                <a:path h="17068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31062" cy="204472"/>
            </a:xfrm>
            <a:custGeom>
              <a:avLst/>
              <a:gdLst/>
              <a:ahLst/>
              <a:cxnLst/>
              <a:rect r="r" b="b" t="t" l="l"/>
              <a:pathLst>
                <a:path h="204472" w="1131062">
                  <a:moveTo>
                    <a:pt x="16891" y="0"/>
                  </a:moveTo>
                  <a:lnTo>
                    <a:pt x="1114171" y="0"/>
                  </a:lnTo>
                  <a:cubicBezTo>
                    <a:pt x="1123569" y="0"/>
                    <a:pt x="1131062" y="7620"/>
                    <a:pt x="1131062" y="16891"/>
                  </a:cubicBezTo>
                  <a:lnTo>
                    <a:pt x="1131062" y="187579"/>
                  </a:lnTo>
                  <a:cubicBezTo>
                    <a:pt x="1131062" y="196977"/>
                    <a:pt x="1123442" y="204470"/>
                    <a:pt x="1114171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14171" y="170688"/>
                  </a:lnTo>
                  <a:lnTo>
                    <a:pt x="1114171" y="187579"/>
                  </a:lnTo>
                  <a:lnTo>
                    <a:pt x="1097280" y="187579"/>
                  </a:lnTo>
                  <a:lnTo>
                    <a:pt x="1097280" y="16891"/>
                  </a:lnTo>
                  <a:lnTo>
                    <a:pt x="1114171" y="16891"/>
                  </a:lnTo>
                  <a:lnTo>
                    <a:pt x="1114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234423" y="4833623"/>
            <a:ext cx="2860043" cy="4780283"/>
            <a:chOff x="0" y="0"/>
            <a:chExt cx="3813391" cy="63737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3779520" cy="6339840"/>
            </a:xfrm>
            <a:custGeom>
              <a:avLst/>
              <a:gdLst/>
              <a:ahLst/>
              <a:cxnLst/>
              <a:rect r="r" b="b" t="t" l="l"/>
              <a:pathLst>
                <a:path h="633984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813302" cy="6373622"/>
            </a:xfrm>
            <a:custGeom>
              <a:avLst/>
              <a:gdLst/>
              <a:ahLst/>
              <a:cxnLst/>
              <a:rect r="r" b="b" t="t" l="l"/>
              <a:pathLst>
                <a:path h="637362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6356731"/>
                  </a:lnTo>
                  <a:cubicBezTo>
                    <a:pt x="3813302" y="6366129"/>
                    <a:pt x="3805682" y="6373622"/>
                    <a:pt x="379641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3796411" y="6339840"/>
                  </a:lnTo>
                  <a:lnTo>
                    <a:pt x="3796411" y="6356731"/>
                  </a:lnTo>
                  <a:lnTo>
                    <a:pt x="3779520" y="635673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247120" y="4937760"/>
            <a:ext cx="2834640" cy="731520"/>
            <a:chOff x="0" y="0"/>
            <a:chExt cx="3779520" cy="975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Molding &amp; Shaping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1338560" y="5768340"/>
            <a:ext cx="2651760" cy="342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BBBBBB"/>
                </a:solidFill>
                <a:latin typeface="Calibri (MS)"/>
                <a:ea typeface="Calibri (MS)"/>
                <a:cs typeface="Calibri (MS)"/>
                <a:sym typeface="Calibri (MS)"/>
              </a:rPr>
              <a:t>Injection molding for plastic frames. CNC cutting + hand finishing for wood frames.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5349223" y="2913383"/>
            <a:ext cx="1579883" cy="1579883"/>
            <a:chOff x="0" y="0"/>
            <a:chExt cx="2106511" cy="210651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lnTo>
                    <a:pt x="1053211" y="16891"/>
                  </a:lnTo>
                  <a:lnTo>
                    <a:pt x="1053211" y="0"/>
                  </a:lnTo>
                  <a:cubicBezTo>
                    <a:pt x="1634871" y="0"/>
                    <a:pt x="2106422" y="471551"/>
                    <a:pt x="2106422" y="1053211"/>
                  </a:cubicBezTo>
                  <a:lnTo>
                    <a:pt x="2089531" y="1053211"/>
                  </a:lnTo>
                  <a:lnTo>
                    <a:pt x="2106422" y="1053211"/>
                  </a:lnTo>
                  <a:cubicBezTo>
                    <a:pt x="2106422" y="1634871"/>
                    <a:pt x="1634871" y="2106422"/>
                    <a:pt x="1053211" y="2106422"/>
                  </a:cubicBezTo>
                  <a:lnTo>
                    <a:pt x="1053211" y="2089531"/>
                  </a:lnTo>
                  <a:lnTo>
                    <a:pt x="1053211" y="2106422"/>
                  </a:lnTo>
                  <a:cubicBezTo>
                    <a:pt x="471551" y="2106549"/>
                    <a:pt x="0" y="1634998"/>
                    <a:pt x="0" y="1053211"/>
                  </a:cubicBezTo>
                  <a:lnTo>
                    <a:pt x="16891" y="105321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0" y="1053211"/>
                  </a:lnTo>
                  <a:moveTo>
                    <a:pt x="33909" y="1053211"/>
                  </a:moveTo>
                  <a:cubicBezTo>
                    <a:pt x="33909" y="1062609"/>
                    <a:pt x="26289" y="1070102"/>
                    <a:pt x="17018" y="1070102"/>
                  </a:cubicBezTo>
                  <a:cubicBezTo>
                    <a:pt x="7747" y="1070102"/>
                    <a:pt x="0" y="1062609"/>
                    <a:pt x="0" y="1053211"/>
                  </a:cubicBezTo>
                  <a:cubicBezTo>
                    <a:pt x="0" y="1043813"/>
                    <a:pt x="7620" y="1036320"/>
                    <a:pt x="16891" y="1036320"/>
                  </a:cubicBezTo>
                  <a:cubicBezTo>
                    <a:pt x="26162" y="1036320"/>
                    <a:pt x="33782" y="1043940"/>
                    <a:pt x="33782" y="1053211"/>
                  </a:cubicBezTo>
                  <a:cubicBezTo>
                    <a:pt x="33782" y="1616202"/>
                    <a:pt x="490220" y="2072640"/>
                    <a:pt x="1053211" y="2072640"/>
                  </a:cubicBezTo>
                  <a:cubicBezTo>
                    <a:pt x="1616202" y="2072640"/>
                    <a:pt x="2072640" y="1616202"/>
                    <a:pt x="2072640" y="1053211"/>
                  </a:cubicBezTo>
                  <a:cubicBezTo>
                    <a:pt x="2072640" y="490220"/>
                    <a:pt x="1616202" y="33782"/>
                    <a:pt x="1053211" y="33782"/>
                  </a:cubicBezTo>
                  <a:lnTo>
                    <a:pt x="1053211" y="16891"/>
                  </a:lnTo>
                  <a:lnTo>
                    <a:pt x="1053211" y="33909"/>
                  </a:lnTo>
                  <a:cubicBezTo>
                    <a:pt x="490220" y="33909"/>
                    <a:pt x="33909" y="490220"/>
                    <a:pt x="33909" y="1053211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5361920" y="2926080"/>
            <a:ext cx="1554480" cy="1554480"/>
            <a:chOff x="0" y="0"/>
            <a:chExt cx="2072640" cy="2072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2072640" cy="2072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05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709143" y="4833623"/>
            <a:ext cx="2860043" cy="4780283"/>
            <a:chOff x="0" y="0"/>
            <a:chExt cx="3813391" cy="63737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3779520" cy="6339840"/>
            </a:xfrm>
            <a:custGeom>
              <a:avLst/>
              <a:gdLst/>
              <a:ahLst/>
              <a:cxnLst/>
              <a:rect r="r" b="b" t="t" l="l"/>
              <a:pathLst>
                <a:path h="633984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339840"/>
                  </a:lnTo>
                  <a:lnTo>
                    <a:pt x="0" y="6339840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813302" cy="6373622"/>
            </a:xfrm>
            <a:custGeom>
              <a:avLst/>
              <a:gdLst/>
              <a:ahLst/>
              <a:cxnLst/>
              <a:rect r="r" b="b" t="t" l="l"/>
              <a:pathLst>
                <a:path h="637362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6356731"/>
                  </a:lnTo>
                  <a:cubicBezTo>
                    <a:pt x="3813302" y="6366129"/>
                    <a:pt x="3805682" y="6373622"/>
                    <a:pt x="3796411" y="6373622"/>
                  </a:cubicBezTo>
                  <a:lnTo>
                    <a:pt x="16891" y="6373622"/>
                  </a:lnTo>
                  <a:cubicBezTo>
                    <a:pt x="7493" y="6373622"/>
                    <a:pt x="0" y="6366002"/>
                    <a:pt x="0" y="6356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356731"/>
                  </a:lnTo>
                  <a:lnTo>
                    <a:pt x="16891" y="6356731"/>
                  </a:lnTo>
                  <a:lnTo>
                    <a:pt x="16891" y="6339840"/>
                  </a:lnTo>
                  <a:lnTo>
                    <a:pt x="3796411" y="6339840"/>
                  </a:lnTo>
                  <a:lnTo>
                    <a:pt x="3796411" y="6356731"/>
                  </a:lnTo>
                  <a:lnTo>
                    <a:pt x="3779520" y="635673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4721840" y="4937760"/>
            <a:ext cx="2834640" cy="731520"/>
            <a:chOff x="0" y="0"/>
            <a:chExt cx="3779520" cy="9753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37795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QA &amp; Finishing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4813280" y="5768340"/>
            <a:ext cx="2651760" cy="342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BBBBBB"/>
                </a:solidFill>
                <a:latin typeface="Calibri (MS)"/>
                <a:ea typeface="Calibri (MS)"/>
                <a:cs typeface="Calibri (MS)"/>
                <a:sym typeface="Calibri (MS)"/>
              </a:rPr>
              <a:t>Surface treatment, polishing, hinge fitting, quality control checks and branding.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901703" y="9131303"/>
            <a:ext cx="16484603" cy="756923"/>
            <a:chOff x="0" y="0"/>
            <a:chExt cx="21979471" cy="100923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21945728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728">
                  <a:moveTo>
                    <a:pt x="0" y="121920"/>
                  </a:moveTo>
                  <a:cubicBezTo>
                    <a:pt x="0" y="54610"/>
                    <a:pt x="56388" y="0"/>
                    <a:pt x="125984" y="0"/>
                  </a:cubicBezTo>
                  <a:lnTo>
                    <a:pt x="21819744" y="0"/>
                  </a:lnTo>
                  <a:cubicBezTo>
                    <a:pt x="21889339" y="0"/>
                    <a:pt x="21945728" y="54610"/>
                    <a:pt x="21945728" y="121920"/>
                  </a:cubicBezTo>
                  <a:lnTo>
                    <a:pt x="21945728" y="853440"/>
                  </a:lnTo>
                  <a:cubicBezTo>
                    <a:pt x="21945728" y="920750"/>
                    <a:pt x="21889339" y="975360"/>
                    <a:pt x="21819744" y="975360"/>
                  </a:cubicBezTo>
                  <a:lnTo>
                    <a:pt x="125984" y="975360"/>
                  </a:lnTo>
                  <a:cubicBezTo>
                    <a:pt x="56388" y="975360"/>
                    <a:pt x="0" y="920750"/>
                    <a:pt x="0" y="85344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979510" cy="1009142"/>
            </a:xfrm>
            <a:custGeom>
              <a:avLst/>
              <a:gdLst/>
              <a:ahLst/>
              <a:cxnLst/>
              <a:rect r="r" b="b" t="t" l="l"/>
              <a:pathLst>
                <a:path h="1009142" w="21979510">
                  <a:moveTo>
                    <a:pt x="0" y="138811"/>
                  </a:moveTo>
                  <a:cubicBezTo>
                    <a:pt x="0" y="61595"/>
                    <a:pt x="64516" y="0"/>
                    <a:pt x="142875" y="0"/>
                  </a:cubicBezTo>
                  <a:lnTo>
                    <a:pt x="21836635" y="0"/>
                  </a:lnTo>
                  <a:lnTo>
                    <a:pt x="21836635" y="16891"/>
                  </a:lnTo>
                  <a:lnTo>
                    <a:pt x="21836635" y="0"/>
                  </a:lnTo>
                  <a:cubicBezTo>
                    <a:pt x="21914994" y="0"/>
                    <a:pt x="21979510" y="61595"/>
                    <a:pt x="21979510" y="138811"/>
                  </a:cubicBezTo>
                  <a:lnTo>
                    <a:pt x="21962619" y="138811"/>
                  </a:lnTo>
                  <a:lnTo>
                    <a:pt x="21979510" y="138811"/>
                  </a:lnTo>
                  <a:lnTo>
                    <a:pt x="21979510" y="870331"/>
                  </a:lnTo>
                  <a:lnTo>
                    <a:pt x="21962619" y="870331"/>
                  </a:lnTo>
                  <a:lnTo>
                    <a:pt x="21979510" y="870331"/>
                  </a:lnTo>
                  <a:cubicBezTo>
                    <a:pt x="21979510" y="947547"/>
                    <a:pt x="21914994" y="1009142"/>
                    <a:pt x="21836635" y="1009142"/>
                  </a:cubicBezTo>
                  <a:lnTo>
                    <a:pt x="21836635" y="992251"/>
                  </a:lnTo>
                  <a:lnTo>
                    <a:pt x="21836635" y="1009142"/>
                  </a:lnTo>
                  <a:lnTo>
                    <a:pt x="142875" y="1009142"/>
                  </a:lnTo>
                  <a:lnTo>
                    <a:pt x="142875" y="992251"/>
                  </a:lnTo>
                  <a:lnTo>
                    <a:pt x="142875" y="1009142"/>
                  </a:lnTo>
                  <a:cubicBezTo>
                    <a:pt x="64516" y="1009269"/>
                    <a:pt x="0" y="947547"/>
                    <a:pt x="0" y="870331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870331"/>
                  </a:lnTo>
                  <a:lnTo>
                    <a:pt x="16891" y="870331"/>
                  </a:lnTo>
                  <a:lnTo>
                    <a:pt x="33909" y="870331"/>
                  </a:lnTo>
                  <a:cubicBezTo>
                    <a:pt x="33909" y="927735"/>
                    <a:pt x="82169" y="975360"/>
                    <a:pt x="142875" y="975360"/>
                  </a:cubicBezTo>
                  <a:lnTo>
                    <a:pt x="21836635" y="975360"/>
                  </a:lnTo>
                  <a:cubicBezTo>
                    <a:pt x="21897341" y="975360"/>
                    <a:pt x="21945600" y="927862"/>
                    <a:pt x="21945600" y="870331"/>
                  </a:cubicBezTo>
                  <a:lnTo>
                    <a:pt x="21945600" y="138811"/>
                  </a:lnTo>
                  <a:cubicBezTo>
                    <a:pt x="21945600" y="81407"/>
                    <a:pt x="21897341" y="33782"/>
                    <a:pt x="21836635" y="33782"/>
                  </a:cubicBezTo>
                  <a:lnTo>
                    <a:pt x="142875" y="33782"/>
                  </a:lnTo>
                  <a:lnTo>
                    <a:pt x="142875" y="16891"/>
                  </a:lnTo>
                  <a:lnTo>
                    <a:pt x="142875" y="33909"/>
                  </a:lnTo>
                  <a:cubicBezTo>
                    <a:pt x="82169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14400" y="9144000"/>
            <a:ext cx="16459200" cy="731520"/>
            <a:chOff x="0" y="0"/>
            <a:chExt cx="21945600" cy="9753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★  Proprietary techniques ensure durable, premium quality in both plastic and wood frame variants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PRODUCTS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4503" y="2181863"/>
            <a:ext cx="5511803" cy="7614923"/>
            <a:chOff x="0" y="0"/>
            <a:chExt cx="7349071" cy="101532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315200" cy="10119360"/>
            </a:xfrm>
            <a:custGeom>
              <a:avLst/>
              <a:gdLst/>
              <a:ahLst/>
              <a:cxnLst/>
              <a:rect r="r" b="b" t="t" l="l"/>
              <a:pathLst>
                <a:path h="10119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119360"/>
                  </a:lnTo>
                  <a:lnTo>
                    <a:pt x="0" y="10119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8982" cy="10153142"/>
            </a:xfrm>
            <a:custGeom>
              <a:avLst/>
              <a:gdLst/>
              <a:ahLst/>
              <a:cxnLst/>
              <a:rect r="r" b="b" t="t" l="l"/>
              <a:pathLst>
                <a:path h="101531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136251"/>
                  </a:lnTo>
                  <a:cubicBezTo>
                    <a:pt x="7348982" y="10145649"/>
                    <a:pt x="7341362" y="10153142"/>
                    <a:pt x="7332091" y="10153142"/>
                  </a:cubicBezTo>
                  <a:lnTo>
                    <a:pt x="16891" y="10153142"/>
                  </a:lnTo>
                  <a:cubicBezTo>
                    <a:pt x="7493" y="10153142"/>
                    <a:pt x="0" y="10145522"/>
                    <a:pt x="0" y="10136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36251"/>
                  </a:lnTo>
                  <a:lnTo>
                    <a:pt x="16891" y="10136251"/>
                  </a:lnTo>
                  <a:lnTo>
                    <a:pt x="16891" y="10119360"/>
                  </a:lnTo>
                  <a:lnTo>
                    <a:pt x="7332091" y="10119360"/>
                  </a:lnTo>
                  <a:lnTo>
                    <a:pt x="7332091" y="10136251"/>
                  </a:lnTo>
                  <a:lnTo>
                    <a:pt x="7315200" y="101362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F2F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44503" y="2181863"/>
            <a:ext cx="5511803" cy="1214123"/>
            <a:chOff x="0" y="0"/>
            <a:chExt cx="7349071" cy="1618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01851"/>
                  </a:lnTo>
                  <a:cubicBezTo>
                    <a:pt x="7348982" y="1611249"/>
                    <a:pt x="7341362" y="1618742"/>
                    <a:pt x="7332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7332091" y="1584960"/>
                  </a:lnTo>
                  <a:lnTo>
                    <a:pt x="7332091" y="1601851"/>
                  </a:lnTo>
                  <a:lnTo>
                    <a:pt x="7315200" y="1601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2286000"/>
            <a:ext cx="5120640" cy="1005840"/>
            <a:chOff x="0" y="0"/>
            <a:chExt cx="682752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8275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Recycled Plastic Frames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22960" y="3655695"/>
            <a:ext cx="4754880" cy="571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Made from all plastic types (PET, HDPE, PP, etc.)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Lightweight &amp; durable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100+ customizable colors &amp; finishes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UV-resistant coating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Hypoallergenic surface treatment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88103" y="2181863"/>
            <a:ext cx="5511803" cy="7614923"/>
            <a:chOff x="0" y="0"/>
            <a:chExt cx="7349071" cy="101532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7315200" cy="10119360"/>
            </a:xfrm>
            <a:custGeom>
              <a:avLst/>
              <a:gdLst/>
              <a:ahLst/>
              <a:cxnLst/>
              <a:rect r="r" b="b" t="t" l="l"/>
              <a:pathLst>
                <a:path h="10119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119360"/>
                  </a:lnTo>
                  <a:lnTo>
                    <a:pt x="0" y="10119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48982" cy="10153142"/>
            </a:xfrm>
            <a:custGeom>
              <a:avLst/>
              <a:gdLst/>
              <a:ahLst/>
              <a:cxnLst/>
              <a:rect r="r" b="b" t="t" l="l"/>
              <a:pathLst>
                <a:path h="101531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136251"/>
                  </a:lnTo>
                  <a:cubicBezTo>
                    <a:pt x="7348982" y="10145649"/>
                    <a:pt x="7341362" y="10153142"/>
                    <a:pt x="7332091" y="10153142"/>
                  </a:cubicBezTo>
                  <a:lnTo>
                    <a:pt x="16891" y="10153142"/>
                  </a:lnTo>
                  <a:cubicBezTo>
                    <a:pt x="7493" y="10153142"/>
                    <a:pt x="0" y="10145522"/>
                    <a:pt x="0" y="10136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36251"/>
                  </a:lnTo>
                  <a:lnTo>
                    <a:pt x="16891" y="10136251"/>
                  </a:lnTo>
                  <a:lnTo>
                    <a:pt x="16891" y="10119360"/>
                  </a:lnTo>
                  <a:lnTo>
                    <a:pt x="7332091" y="10119360"/>
                  </a:lnTo>
                  <a:lnTo>
                    <a:pt x="7332091" y="10136251"/>
                  </a:lnTo>
                  <a:lnTo>
                    <a:pt x="7315200" y="101362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EBE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388103" y="2181863"/>
            <a:ext cx="5511803" cy="1214123"/>
            <a:chOff x="0" y="0"/>
            <a:chExt cx="7349071" cy="16188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7315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5D4037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8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01851"/>
                  </a:lnTo>
                  <a:cubicBezTo>
                    <a:pt x="7348982" y="1611249"/>
                    <a:pt x="7341362" y="1618742"/>
                    <a:pt x="7332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7332091" y="1584960"/>
                  </a:lnTo>
                  <a:lnTo>
                    <a:pt x="7332091" y="1601851"/>
                  </a:lnTo>
                  <a:lnTo>
                    <a:pt x="7315200" y="1601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D403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83680" y="2286000"/>
            <a:ext cx="5120640" cy="1005840"/>
            <a:chOff x="0" y="0"/>
            <a:chExt cx="682752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8275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Reclaimed Wood Frames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766560" y="3655695"/>
            <a:ext cx="4754880" cy="571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Crafted from sawdust composite &amp; offcuts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Natural grain aesthetics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Unique one-of-a-kind patterns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Lightweight bamboo variants available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Hand-finished &amp; polished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331703" y="2181863"/>
            <a:ext cx="5511803" cy="7614923"/>
            <a:chOff x="0" y="0"/>
            <a:chExt cx="7349071" cy="101532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315200" cy="10119360"/>
            </a:xfrm>
            <a:custGeom>
              <a:avLst/>
              <a:gdLst/>
              <a:ahLst/>
              <a:cxnLst/>
              <a:rect r="r" b="b" t="t" l="l"/>
              <a:pathLst>
                <a:path h="10119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119360"/>
                  </a:lnTo>
                  <a:lnTo>
                    <a:pt x="0" y="10119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48982" cy="10153142"/>
            </a:xfrm>
            <a:custGeom>
              <a:avLst/>
              <a:gdLst/>
              <a:ahLst/>
              <a:cxnLst/>
              <a:rect r="r" b="b" t="t" l="l"/>
              <a:pathLst>
                <a:path h="101531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0136251"/>
                  </a:lnTo>
                  <a:cubicBezTo>
                    <a:pt x="7348982" y="10145649"/>
                    <a:pt x="7341362" y="10153142"/>
                    <a:pt x="7332091" y="10153142"/>
                  </a:cubicBezTo>
                  <a:lnTo>
                    <a:pt x="16891" y="10153142"/>
                  </a:lnTo>
                  <a:cubicBezTo>
                    <a:pt x="7493" y="10153142"/>
                    <a:pt x="0" y="10145522"/>
                    <a:pt x="0" y="10136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36251"/>
                  </a:lnTo>
                  <a:lnTo>
                    <a:pt x="16891" y="10136251"/>
                  </a:lnTo>
                  <a:lnTo>
                    <a:pt x="16891" y="10119360"/>
                  </a:lnTo>
                  <a:lnTo>
                    <a:pt x="7332091" y="10119360"/>
                  </a:lnTo>
                  <a:lnTo>
                    <a:pt x="7332091" y="10136251"/>
                  </a:lnTo>
                  <a:lnTo>
                    <a:pt x="7315200" y="101362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331703" y="2181863"/>
            <a:ext cx="5511803" cy="1214123"/>
            <a:chOff x="0" y="0"/>
            <a:chExt cx="7349071" cy="16188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3152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48982" cy="1618742"/>
            </a:xfrm>
            <a:custGeom>
              <a:avLst/>
              <a:gdLst/>
              <a:ahLst/>
              <a:cxnLst/>
              <a:rect r="r" b="b" t="t" l="l"/>
              <a:pathLst>
                <a:path h="1618742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01851"/>
                  </a:lnTo>
                  <a:cubicBezTo>
                    <a:pt x="7348982" y="1611249"/>
                    <a:pt x="7341362" y="1618742"/>
                    <a:pt x="7332091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7332091" y="1584960"/>
                  </a:lnTo>
                  <a:lnTo>
                    <a:pt x="7332091" y="1601851"/>
                  </a:lnTo>
                  <a:lnTo>
                    <a:pt x="7315200" y="1601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27280" y="2286000"/>
            <a:ext cx="5120640" cy="1005840"/>
            <a:chOff x="0" y="0"/>
            <a:chExt cx="6827520" cy="1341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8275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Stationery &amp; Accessories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710160" y="3655695"/>
            <a:ext cx="4754880" cy="571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Pens, rulers &amp; clips from plastic waste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Notebook covers from wood composite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Corporate branded merchandise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Educational institution supply</a:t>
            </a:r>
          </a:p>
          <a:p>
            <a:pPr algn="l" marL="530860" indent="-265430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Fully customizable bulk orders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MARKET OPPORTUNITY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7383" y="2090423"/>
            <a:ext cx="5328923" cy="3500123"/>
            <a:chOff x="0" y="0"/>
            <a:chExt cx="7105231" cy="46668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05142" cy="4666742"/>
            </a:xfrm>
            <a:custGeom>
              <a:avLst/>
              <a:gdLst/>
              <a:ahLst/>
              <a:cxnLst/>
              <a:rect r="r" b="b" t="t" l="l"/>
              <a:pathLst>
                <a:path h="46667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649851"/>
                  </a:lnTo>
                  <a:cubicBezTo>
                    <a:pt x="7105142" y="4659249"/>
                    <a:pt x="7097522" y="4666742"/>
                    <a:pt x="708825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088251" y="4632960"/>
                  </a:lnTo>
                  <a:lnTo>
                    <a:pt x="7088251" y="4649851"/>
                  </a:lnTo>
                  <a:lnTo>
                    <a:pt x="7071360" y="46498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2194560"/>
            <a:ext cx="5303520" cy="1828800"/>
            <a:chOff x="0" y="0"/>
            <a:chExt cx="707136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707136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$197B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4023360"/>
            <a:ext cx="5303520" cy="822960"/>
            <a:chOff x="0" y="0"/>
            <a:chExt cx="707136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71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0713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Global Eyewear Market 2024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4901184"/>
            <a:ext cx="5303520" cy="548640"/>
            <a:chOff x="0" y="0"/>
            <a:chExt cx="70713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A5D6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Growing at 8.5% CAGR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79543" y="2090423"/>
            <a:ext cx="5328923" cy="3500123"/>
            <a:chOff x="0" y="0"/>
            <a:chExt cx="7105231" cy="46668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05142" cy="4666742"/>
            </a:xfrm>
            <a:custGeom>
              <a:avLst/>
              <a:gdLst/>
              <a:ahLst/>
              <a:cxnLst/>
              <a:rect r="r" b="b" t="t" l="l"/>
              <a:pathLst>
                <a:path h="46667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649851"/>
                  </a:lnTo>
                  <a:cubicBezTo>
                    <a:pt x="7105142" y="4659249"/>
                    <a:pt x="7097522" y="4666742"/>
                    <a:pt x="708825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088251" y="4632960"/>
                  </a:lnTo>
                  <a:lnTo>
                    <a:pt x="7088251" y="4649851"/>
                  </a:lnTo>
                  <a:lnTo>
                    <a:pt x="7071360" y="46498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92240" y="2194560"/>
            <a:ext cx="5303520" cy="1828800"/>
            <a:chOff x="0" y="0"/>
            <a:chExt cx="7071360" cy="2438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707136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73%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240" y="4023360"/>
            <a:ext cx="5303520" cy="822960"/>
            <a:chOff x="0" y="0"/>
            <a:chExt cx="707136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0713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Consumers prefer eco brands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92240" y="4901184"/>
            <a:ext cx="5303520" cy="548640"/>
            <a:chOff x="0" y="0"/>
            <a:chExt cx="707136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A5D6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Nielsen Global Survey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31703" y="2090423"/>
            <a:ext cx="5328923" cy="3500123"/>
            <a:chOff x="0" y="0"/>
            <a:chExt cx="7105231" cy="46668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0713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05142" cy="4666742"/>
            </a:xfrm>
            <a:custGeom>
              <a:avLst/>
              <a:gdLst/>
              <a:ahLst/>
              <a:cxnLst/>
              <a:rect r="r" b="b" t="t" l="l"/>
              <a:pathLst>
                <a:path h="466674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649851"/>
                  </a:lnTo>
                  <a:cubicBezTo>
                    <a:pt x="7105142" y="4659249"/>
                    <a:pt x="7097522" y="4666742"/>
                    <a:pt x="708825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088251" y="4632960"/>
                  </a:lnTo>
                  <a:lnTo>
                    <a:pt x="7088251" y="4649851"/>
                  </a:lnTo>
                  <a:lnTo>
                    <a:pt x="7071360" y="464985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0" y="2194560"/>
            <a:ext cx="5303520" cy="1828800"/>
            <a:chOff x="0" y="0"/>
            <a:chExt cx="7071360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707136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$38B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0" y="4023360"/>
            <a:ext cx="5303520" cy="822960"/>
            <a:chOff x="0" y="0"/>
            <a:chExt cx="707136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71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70" r="0" b="-7557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0713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Sustainable fashion market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44400" y="4901184"/>
            <a:ext cx="5303520" cy="548640"/>
            <a:chOff x="0" y="0"/>
            <a:chExt cx="707136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A5D6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Asia Pacific segment growing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5943600"/>
            <a:ext cx="16459200" cy="731520"/>
            <a:chOff x="0" y="0"/>
            <a:chExt cx="2194560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CUSTOMER SEGMENTS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05840" y="6856095"/>
            <a:ext cx="8046720" cy="288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90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Eco-conscious individual buyers</a:t>
            </a:r>
          </a:p>
          <a:p>
            <a:pPr algn="l" marL="554990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Sustainable fashion brands seeking eco-sourced frames</a:t>
            </a:r>
          </a:p>
          <a:p>
            <a:pPr algn="l" marL="554990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Optical retailers &amp; eyewear chains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18320" y="6856095"/>
            <a:ext cx="8046720" cy="288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90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Corporate CSR gifting programs</a:t>
            </a:r>
          </a:p>
          <a:p>
            <a:pPr algn="l" marL="554990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NGOs &amp; government sustainability initiatives</a:t>
            </a:r>
          </a:p>
          <a:p>
            <a:pPr algn="l" marL="554990" indent="-27749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Educational institutions (stationery)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BUSINESS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090423"/>
            <a:ext cx="8163563" cy="7614923"/>
            <a:chOff x="0" y="0"/>
            <a:chExt cx="10884751" cy="101532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850881" cy="10119360"/>
            </a:xfrm>
            <a:custGeom>
              <a:avLst/>
              <a:gdLst/>
              <a:ahLst/>
              <a:cxnLst/>
              <a:rect r="r" b="b" t="t" l="l"/>
              <a:pathLst>
                <a:path h="1011936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0119360"/>
                  </a:lnTo>
                  <a:lnTo>
                    <a:pt x="0" y="10119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84662" cy="10153142"/>
            </a:xfrm>
            <a:custGeom>
              <a:avLst/>
              <a:gdLst/>
              <a:ahLst/>
              <a:cxnLst/>
              <a:rect r="r" b="b" t="t" l="l"/>
              <a:pathLst>
                <a:path h="1015314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0136251"/>
                  </a:lnTo>
                  <a:cubicBezTo>
                    <a:pt x="10884662" y="10145649"/>
                    <a:pt x="10877042" y="10153142"/>
                    <a:pt x="10867772" y="10153142"/>
                  </a:cubicBezTo>
                  <a:lnTo>
                    <a:pt x="16891" y="10153142"/>
                  </a:lnTo>
                  <a:cubicBezTo>
                    <a:pt x="7493" y="10153142"/>
                    <a:pt x="0" y="10145522"/>
                    <a:pt x="0" y="10136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36251"/>
                  </a:lnTo>
                  <a:lnTo>
                    <a:pt x="16891" y="10136251"/>
                  </a:lnTo>
                  <a:lnTo>
                    <a:pt x="16891" y="10119360"/>
                  </a:lnTo>
                  <a:lnTo>
                    <a:pt x="10867772" y="10119360"/>
                  </a:lnTo>
                  <a:lnTo>
                    <a:pt x="10867772" y="10136251"/>
                  </a:lnTo>
                  <a:lnTo>
                    <a:pt x="10850880" y="1013625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2090423"/>
            <a:ext cx="8163563" cy="1031243"/>
            <a:chOff x="0" y="0"/>
            <a:chExt cx="10884751" cy="1374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8508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846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358011"/>
                  </a:lnTo>
                  <a:cubicBezTo>
                    <a:pt x="10884662" y="1367409"/>
                    <a:pt x="10877042" y="1374902"/>
                    <a:pt x="108677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867772" y="1341120"/>
                  </a:lnTo>
                  <a:lnTo>
                    <a:pt x="10867772" y="1358011"/>
                  </a:lnTo>
                  <a:lnTo>
                    <a:pt x="10850880" y="135801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2194560"/>
            <a:ext cx="7498080" cy="822960"/>
            <a:chOff x="0" y="0"/>
            <a:chExt cx="99974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9974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💰  REVENUE STREAMS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0263" y="3315719"/>
            <a:ext cx="391163" cy="391163"/>
            <a:chOff x="0" y="0"/>
            <a:chExt cx="521551" cy="521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71600" y="3291840"/>
            <a:ext cx="7040880" cy="548640"/>
            <a:chOff x="0" y="0"/>
            <a:chExt cx="93878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Direct B2C Sales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1600" y="3840480"/>
            <a:ext cx="7040880" cy="1005840"/>
            <a:chOff x="0" y="0"/>
            <a:chExt cx="938784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Online &amp; retail sales of plastic and wood sunglasses frames directly to consumers.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10263" y="5053079"/>
            <a:ext cx="391163" cy="391163"/>
            <a:chOff x="0" y="0"/>
            <a:chExt cx="521551" cy="5215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71600" y="5029200"/>
            <a:ext cx="7040880" cy="548640"/>
            <a:chOff x="0" y="0"/>
            <a:chExt cx="938784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B2B Bulk Supply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1600" y="5577840"/>
            <a:ext cx="7040880" cy="1005840"/>
            <a:chOff x="0" y="0"/>
            <a:chExt cx="938784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Supply frames to eyewear brands, optical chains, and fashion retailers.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0263" y="6790439"/>
            <a:ext cx="391163" cy="391163"/>
            <a:chOff x="0" y="0"/>
            <a:chExt cx="521551" cy="5215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71600" y="6766560"/>
            <a:ext cx="7040880" cy="548640"/>
            <a:chOff x="0" y="0"/>
            <a:chExt cx="938784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Licensing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600" y="7315200"/>
            <a:ext cx="7040880" cy="1005840"/>
            <a:chOff x="0" y="0"/>
            <a:chExt cx="9387840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License recycling process &amp; IP to manufacturers globally.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0263" y="8527799"/>
            <a:ext cx="391163" cy="391163"/>
            <a:chOff x="0" y="0"/>
            <a:chExt cx="521551" cy="5215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71600" y="8503920"/>
            <a:ext cx="7040880" cy="548640"/>
            <a:chOff x="0" y="0"/>
            <a:chExt cx="938784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Waste Collection Fees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1600" y="9052560"/>
            <a:ext cx="7040880" cy="1005840"/>
            <a:chOff x="0" y="0"/>
            <a:chExt cx="938784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Partner with municipalities and factories to collect waste — generating revenue at source.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88503" y="2090423"/>
            <a:ext cx="8163563" cy="7614923"/>
            <a:chOff x="0" y="0"/>
            <a:chExt cx="10884751" cy="101532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850881" cy="10119360"/>
            </a:xfrm>
            <a:custGeom>
              <a:avLst/>
              <a:gdLst/>
              <a:ahLst/>
              <a:cxnLst/>
              <a:rect r="r" b="b" t="t" l="l"/>
              <a:pathLst>
                <a:path h="1011936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0119360"/>
                  </a:lnTo>
                  <a:lnTo>
                    <a:pt x="0" y="10119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884662" cy="10153142"/>
            </a:xfrm>
            <a:custGeom>
              <a:avLst/>
              <a:gdLst/>
              <a:ahLst/>
              <a:cxnLst/>
              <a:rect r="r" b="b" t="t" l="l"/>
              <a:pathLst>
                <a:path h="1015314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0136251"/>
                  </a:lnTo>
                  <a:cubicBezTo>
                    <a:pt x="10884662" y="10145649"/>
                    <a:pt x="10877042" y="10153142"/>
                    <a:pt x="10867772" y="10153142"/>
                  </a:cubicBezTo>
                  <a:lnTo>
                    <a:pt x="16891" y="10153142"/>
                  </a:lnTo>
                  <a:cubicBezTo>
                    <a:pt x="7493" y="10153142"/>
                    <a:pt x="0" y="10145522"/>
                    <a:pt x="0" y="10136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36251"/>
                  </a:lnTo>
                  <a:lnTo>
                    <a:pt x="16891" y="10136251"/>
                  </a:lnTo>
                  <a:lnTo>
                    <a:pt x="16891" y="10119360"/>
                  </a:lnTo>
                  <a:lnTo>
                    <a:pt x="10867772" y="10119360"/>
                  </a:lnTo>
                  <a:lnTo>
                    <a:pt x="10867772" y="10136251"/>
                  </a:lnTo>
                  <a:lnTo>
                    <a:pt x="10850880" y="1013625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588503" y="2090423"/>
            <a:ext cx="8163563" cy="1031243"/>
            <a:chOff x="0" y="0"/>
            <a:chExt cx="10884751" cy="13749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850881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850881">
                  <a:moveTo>
                    <a:pt x="0" y="0"/>
                  </a:moveTo>
                  <a:lnTo>
                    <a:pt x="10850881" y="0"/>
                  </a:lnTo>
                  <a:lnTo>
                    <a:pt x="10850881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5D4037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8466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0884662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358011"/>
                  </a:lnTo>
                  <a:cubicBezTo>
                    <a:pt x="10884662" y="1367409"/>
                    <a:pt x="10877042" y="1374902"/>
                    <a:pt x="10867772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0867772" y="1341120"/>
                  </a:lnTo>
                  <a:lnTo>
                    <a:pt x="10867772" y="1358011"/>
                  </a:lnTo>
                  <a:lnTo>
                    <a:pt x="10850880" y="1358011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D403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875520" y="2194560"/>
            <a:ext cx="7498080" cy="822960"/>
            <a:chOff x="0" y="0"/>
            <a:chExt cx="999744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99974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COST STRUCTURE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62823" y="3315719"/>
            <a:ext cx="391163" cy="391163"/>
            <a:chOff x="0" y="0"/>
            <a:chExt cx="521551" cy="5215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D4037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D4037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424160" y="3291840"/>
            <a:ext cx="7040880" cy="548640"/>
            <a:chOff x="0" y="0"/>
            <a:chExt cx="938784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Materials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424160" y="3840480"/>
            <a:ext cx="7040880" cy="822960"/>
            <a:chOff x="0" y="0"/>
            <a:chExt cx="9387840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387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Plastic &amp; wood waste (low-cost/free from partners)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862823" y="4742183"/>
            <a:ext cx="391163" cy="391163"/>
            <a:chOff x="0" y="0"/>
            <a:chExt cx="521551" cy="5215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D4037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D4037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424160" y="4718304"/>
            <a:ext cx="7040880" cy="548640"/>
            <a:chOff x="0" y="0"/>
            <a:chExt cx="938784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Machinery &amp; Equipment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424160" y="5266944"/>
            <a:ext cx="7040880" cy="822960"/>
            <a:chOff x="0" y="0"/>
            <a:chExt cx="9387840" cy="1097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387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Shredders, pelletizers, injection molds, CNC machines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62823" y="6168647"/>
            <a:ext cx="391163" cy="391163"/>
            <a:chOff x="0" y="0"/>
            <a:chExt cx="521551" cy="52155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D4037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D403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424160" y="6144768"/>
            <a:ext cx="7040880" cy="548640"/>
            <a:chOff x="0" y="0"/>
            <a:chExt cx="938784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Facility &amp; Operations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424160" y="6693408"/>
            <a:ext cx="7040880" cy="822960"/>
            <a:chOff x="0" y="0"/>
            <a:chExt cx="9387840" cy="1097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387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Processing facility, utilities, maintenance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862823" y="7595111"/>
            <a:ext cx="391163" cy="391163"/>
            <a:chOff x="0" y="0"/>
            <a:chExt cx="521551" cy="52155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D4037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D4037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424160" y="7571232"/>
            <a:ext cx="7040880" cy="548640"/>
            <a:chOff x="0" y="0"/>
            <a:chExt cx="938784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Labor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424160" y="8119872"/>
            <a:ext cx="7040880" cy="822960"/>
            <a:chOff x="0" y="0"/>
            <a:chExt cx="9387840" cy="10972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387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Skilled technicians, quality control, admin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862823" y="9021575"/>
            <a:ext cx="391163" cy="391163"/>
            <a:chOff x="0" y="0"/>
            <a:chExt cx="521551" cy="52155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5D4037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5D403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424160" y="8997696"/>
            <a:ext cx="7040880" cy="548640"/>
            <a:chOff x="0" y="0"/>
            <a:chExt cx="938784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387840" cy="731520"/>
            </a:xfrm>
            <a:custGeom>
              <a:avLst/>
              <a:gdLst/>
              <a:ahLst/>
              <a:cxnLst/>
              <a:rect r="r" b="b" t="t" l="l"/>
              <a:pathLst>
                <a:path h="7315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057" r="0" b="-20005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9387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Sales &amp; Marketing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424160" y="9546336"/>
            <a:ext cx="7040880" cy="822960"/>
            <a:chOff x="0" y="0"/>
            <a:chExt cx="9387840" cy="10972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387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05" r="0" b="-11670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93878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Brand building, digital marketing, B2B outreach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FINANCIAL PROJECTIONS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184" y="950976"/>
            <a:ext cx="12728448" cy="9802368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1874503" y="2181863"/>
            <a:ext cx="2860043" cy="2128523"/>
            <a:chOff x="0" y="0"/>
            <a:chExt cx="3813391" cy="28380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37795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3302" cy="2837942"/>
            </a:xfrm>
            <a:custGeom>
              <a:avLst/>
              <a:gdLst/>
              <a:ahLst/>
              <a:cxnLst/>
              <a:rect r="r" b="b" t="t" l="l"/>
              <a:pathLst>
                <a:path h="283794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2821051"/>
                  </a:lnTo>
                  <a:cubicBezTo>
                    <a:pt x="3813302" y="2830449"/>
                    <a:pt x="3805682" y="2837942"/>
                    <a:pt x="379641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3796411" y="2804160"/>
                  </a:lnTo>
                  <a:lnTo>
                    <a:pt x="3796411" y="2821051"/>
                  </a:lnTo>
                  <a:lnTo>
                    <a:pt x="3779520" y="282105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87200" y="2377440"/>
            <a:ext cx="2834640" cy="1005840"/>
            <a:chOff x="0" y="0"/>
            <a:chExt cx="3779520" cy="1341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7795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$300K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87200" y="3383280"/>
            <a:ext cx="2834640" cy="731520"/>
            <a:chOff x="0" y="0"/>
            <a:chExt cx="377952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E6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1 Revenue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983463" y="2181863"/>
            <a:ext cx="2860043" cy="2128523"/>
            <a:chOff x="0" y="0"/>
            <a:chExt cx="3813391" cy="28380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37795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3302" cy="2837942"/>
            </a:xfrm>
            <a:custGeom>
              <a:avLst/>
              <a:gdLst/>
              <a:ahLst/>
              <a:cxnLst/>
              <a:rect r="r" b="b" t="t" l="l"/>
              <a:pathLst>
                <a:path h="283794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2821051"/>
                  </a:lnTo>
                  <a:cubicBezTo>
                    <a:pt x="3813302" y="2830449"/>
                    <a:pt x="3805682" y="2837942"/>
                    <a:pt x="379641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3796411" y="2804160"/>
                  </a:lnTo>
                  <a:lnTo>
                    <a:pt x="3796411" y="2821051"/>
                  </a:lnTo>
                  <a:lnTo>
                    <a:pt x="3779520" y="282105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996160" y="2377440"/>
            <a:ext cx="2834640" cy="1005840"/>
            <a:chOff x="0" y="0"/>
            <a:chExt cx="377952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7795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$600K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996160" y="3383280"/>
            <a:ext cx="2834640" cy="731520"/>
            <a:chOff x="0" y="0"/>
            <a:chExt cx="377952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E6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2 Revenue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74503" y="4559303"/>
            <a:ext cx="2860043" cy="2128523"/>
            <a:chOff x="0" y="0"/>
            <a:chExt cx="3813391" cy="28380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37795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3302" cy="2837942"/>
            </a:xfrm>
            <a:custGeom>
              <a:avLst/>
              <a:gdLst/>
              <a:ahLst/>
              <a:cxnLst/>
              <a:rect r="r" b="b" t="t" l="l"/>
              <a:pathLst>
                <a:path h="283794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2821051"/>
                  </a:lnTo>
                  <a:cubicBezTo>
                    <a:pt x="3813302" y="2830449"/>
                    <a:pt x="3805682" y="2837942"/>
                    <a:pt x="379641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3796411" y="2804160"/>
                  </a:lnTo>
                  <a:lnTo>
                    <a:pt x="3796411" y="2821051"/>
                  </a:lnTo>
                  <a:lnTo>
                    <a:pt x="3779520" y="282105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87200" y="4754880"/>
            <a:ext cx="2834640" cy="1005840"/>
            <a:chOff x="0" y="0"/>
            <a:chExt cx="3779520" cy="1341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7795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$1.2M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87200" y="5760720"/>
            <a:ext cx="2834640" cy="731520"/>
            <a:chOff x="0" y="0"/>
            <a:chExt cx="377952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E6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Year 3 Revenue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83463" y="4559303"/>
            <a:ext cx="2860043" cy="2128523"/>
            <a:chOff x="0" y="0"/>
            <a:chExt cx="3813391" cy="28380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37795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13302" cy="2837942"/>
            </a:xfrm>
            <a:custGeom>
              <a:avLst/>
              <a:gdLst/>
              <a:ahLst/>
              <a:cxnLst/>
              <a:rect r="r" b="b" t="t" l="l"/>
              <a:pathLst>
                <a:path h="283794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2821051"/>
                  </a:lnTo>
                  <a:cubicBezTo>
                    <a:pt x="3813302" y="2830449"/>
                    <a:pt x="3805682" y="2837942"/>
                    <a:pt x="379641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3796411" y="2804160"/>
                  </a:lnTo>
                  <a:lnTo>
                    <a:pt x="3796411" y="2821051"/>
                  </a:lnTo>
                  <a:lnTo>
                    <a:pt x="3779520" y="282105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996160" y="4754880"/>
            <a:ext cx="2834640" cy="1005840"/>
            <a:chOff x="0" y="0"/>
            <a:chExt cx="3779520" cy="1341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7795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2C5F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40-50%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996160" y="5760720"/>
            <a:ext cx="2834640" cy="731520"/>
            <a:chOff x="0" y="0"/>
            <a:chExt cx="377952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Gross Margin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74503" y="6936743"/>
            <a:ext cx="2860043" cy="2128523"/>
            <a:chOff x="0" y="0"/>
            <a:chExt cx="3813391" cy="28380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37795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13302" cy="2837942"/>
            </a:xfrm>
            <a:custGeom>
              <a:avLst/>
              <a:gdLst/>
              <a:ahLst/>
              <a:cxnLst/>
              <a:rect r="r" b="b" t="t" l="l"/>
              <a:pathLst>
                <a:path h="283794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2821051"/>
                  </a:lnTo>
                  <a:cubicBezTo>
                    <a:pt x="3813302" y="2830449"/>
                    <a:pt x="3805682" y="2837942"/>
                    <a:pt x="379641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3796411" y="2804160"/>
                  </a:lnTo>
                  <a:lnTo>
                    <a:pt x="3796411" y="2821051"/>
                  </a:lnTo>
                  <a:lnTo>
                    <a:pt x="3779520" y="282105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87200" y="7132320"/>
            <a:ext cx="2834640" cy="1005840"/>
            <a:chOff x="0" y="0"/>
            <a:chExt cx="3779520" cy="1341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7795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2C5F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20-25%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887200" y="8138160"/>
            <a:ext cx="2834640" cy="731520"/>
            <a:chOff x="0" y="0"/>
            <a:chExt cx="3779520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 Margin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983463" y="6936743"/>
            <a:ext cx="2860043" cy="2128523"/>
            <a:chOff x="0" y="0"/>
            <a:chExt cx="3813391" cy="28380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3779520" cy="2804160"/>
            </a:xfrm>
            <a:custGeom>
              <a:avLst/>
              <a:gdLst/>
              <a:ahLst/>
              <a:cxnLst/>
              <a:rect r="r" b="b" t="t" l="l"/>
              <a:pathLst>
                <a:path h="28041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813302" cy="2837942"/>
            </a:xfrm>
            <a:custGeom>
              <a:avLst/>
              <a:gdLst/>
              <a:ahLst/>
              <a:cxnLst/>
              <a:rect r="r" b="b" t="t" l="l"/>
              <a:pathLst>
                <a:path h="2837942" w="3813302">
                  <a:moveTo>
                    <a:pt x="16891" y="0"/>
                  </a:moveTo>
                  <a:lnTo>
                    <a:pt x="3796411" y="0"/>
                  </a:lnTo>
                  <a:cubicBezTo>
                    <a:pt x="3805809" y="0"/>
                    <a:pt x="3813302" y="7620"/>
                    <a:pt x="3813302" y="16891"/>
                  </a:cubicBezTo>
                  <a:lnTo>
                    <a:pt x="3813302" y="2821051"/>
                  </a:lnTo>
                  <a:cubicBezTo>
                    <a:pt x="3813302" y="2830449"/>
                    <a:pt x="3805682" y="2837942"/>
                    <a:pt x="379641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3796411" y="2804160"/>
                  </a:lnTo>
                  <a:lnTo>
                    <a:pt x="3796411" y="2821051"/>
                  </a:lnTo>
                  <a:lnTo>
                    <a:pt x="3779520" y="2821051"/>
                  </a:lnTo>
                  <a:lnTo>
                    <a:pt x="3779520" y="16891"/>
                  </a:lnTo>
                  <a:lnTo>
                    <a:pt x="3796411" y="16891"/>
                  </a:lnTo>
                  <a:lnTo>
                    <a:pt x="3796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996160" y="7132320"/>
            <a:ext cx="2834640" cy="1005840"/>
            <a:chOff x="0" y="0"/>
            <a:chExt cx="3779520" cy="1341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779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2" r="0" b="-491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377952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2C5F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Month 14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996160" y="8138160"/>
            <a:ext cx="2834640" cy="731520"/>
            <a:chOff x="0" y="0"/>
            <a:chExt cx="3779520" cy="9753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779520" cy="975360"/>
            </a:xfrm>
            <a:custGeom>
              <a:avLst/>
              <a:gdLst/>
              <a:ahLst/>
              <a:cxnLst/>
              <a:rect r="r" b="b" t="t" l="l"/>
              <a:pathLst>
                <a:path h="97536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77952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Break-even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SOCIAL &amp; ENVIRONMENTAL IMPACT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2181863"/>
            <a:ext cx="7523483" cy="3225803"/>
            <a:chOff x="0" y="0"/>
            <a:chExt cx="10031311" cy="4301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997440" cy="4267200"/>
            </a:xfrm>
            <a:custGeom>
              <a:avLst/>
              <a:gdLst/>
              <a:ahLst/>
              <a:cxnLst/>
              <a:rect r="r" b="b" t="t" l="l"/>
              <a:pathLst>
                <a:path h="4267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>
                <a:alpha val="77255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3122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4284091"/>
                  </a:lnTo>
                  <a:cubicBezTo>
                    <a:pt x="10031222" y="4293489"/>
                    <a:pt x="10023602" y="4300982"/>
                    <a:pt x="1001433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014331" y="4267200"/>
                  </a:lnTo>
                  <a:lnTo>
                    <a:pt x="10014331" y="4284091"/>
                  </a:lnTo>
                  <a:lnTo>
                    <a:pt x="9997440" y="428409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3143" y="2968247"/>
            <a:ext cx="1579883" cy="1579883"/>
            <a:chOff x="0" y="0"/>
            <a:chExt cx="2106511" cy="2106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lnTo>
                    <a:pt x="1053211" y="16891"/>
                  </a:lnTo>
                  <a:lnTo>
                    <a:pt x="1053211" y="0"/>
                  </a:lnTo>
                  <a:cubicBezTo>
                    <a:pt x="1634871" y="0"/>
                    <a:pt x="2106422" y="471551"/>
                    <a:pt x="2106422" y="1053211"/>
                  </a:cubicBezTo>
                  <a:lnTo>
                    <a:pt x="2089531" y="1053211"/>
                  </a:lnTo>
                  <a:lnTo>
                    <a:pt x="2106422" y="1053211"/>
                  </a:lnTo>
                  <a:cubicBezTo>
                    <a:pt x="2106422" y="1634871"/>
                    <a:pt x="1634871" y="2106422"/>
                    <a:pt x="1053211" y="2106422"/>
                  </a:cubicBezTo>
                  <a:lnTo>
                    <a:pt x="1053211" y="2089531"/>
                  </a:lnTo>
                  <a:lnTo>
                    <a:pt x="1053211" y="2106422"/>
                  </a:lnTo>
                  <a:cubicBezTo>
                    <a:pt x="471551" y="2106549"/>
                    <a:pt x="0" y="1634998"/>
                    <a:pt x="0" y="1053211"/>
                  </a:cubicBezTo>
                  <a:lnTo>
                    <a:pt x="16891" y="105321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0" y="1053211"/>
                  </a:lnTo>
                  <a:moveTo>
                    <a:pt x="33909" y="1053211"/>
                  </a:moveTo>
                  <a:cubicBezTo>
                    <a:pt x="33909" y="1062609"/>
                    <a:pt x="26289" y="1070102"/>
                    <a:pt x="17018" y="1070102"/>
                  </a:cubicBezTo>
                  <a:cubicBezTo>
                    <a:pt x="7747" y="1070102"/>
                    <a:pt x="0" y="1062609"/>
                    <a:pt x="0" y="1053211"/>
                  </a:cubicBezTo>
                  <a:cubicBezTo>
                    <a:pt x="0" y="1043813"/>
                    <a:pt x="7620" y="1036320"/>
                    <a:pt x="16891" y="1036320"/>
                  </a:cubicBezTo>
                  <a:cubicBezTo>
                    <a:pt x="26162" y="1036320"/>
                    <a:pt x="33782" y="1043940"/>
                    <a:pt x="33782" y="1053211"/>
                  </a:cubicBezTo>
                  <a:cubicBezTo>
                    <a:pt x="33782" y="1616202"/>
                    <a:pt x="490220" y="2072640"/>
                    <a:pt x="1053211" y="2072640"/>
                  </a:cubicBezTo>
                  <a:cubicBezTo>
                    <a:pt x="1616202" y="2072640"/>
                    <a:pt x="2072640" y="1616202"/>
                    <a:pt x="2072640" y="1053211"/>
                  </a:cubicBezTo>
                  <a:cubicBezTo>
                    <a:pt x="2072640" y="490220"/>
                    <a:pt x="1616202" y="33782"/>
                    <a:pt x="1053211" y="33782"/>
                  </a:cubicBezTo>
                  <a:lnTo>
                    <a:pt x="1053211" y="16891"/>
                  </a:lnTo>
                  <a:lnTo>
                    <a:pt x="1053211" y="33909"/>
                  </a:lnTo>
                  <a:cubicBezTo>
                    <a:pt x="490220" y="33909"/>
                    <a:pt x="33909" y="490220"/>
                    <a:pt x="33909" y="1053211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43584" y="3218688"/>
            <a:ext cx="1097280" cy="1097280"/>
            <a:chOff x="0" y="0"/>
            <a:chExt cx="1463040" cy="146304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834640" y="2377440"/>
            <a:ext cx="5120640" cy="1005840"/>
            <a:chOff x="0" y="0"/>
            <a:chExt cx="6827520" cy="1341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68275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2C5F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100+ tons/yr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834640" y="3383280"/>
            <a:ext cx="5120640" cy="640080"/>
            <a:chOff x="0" y="0"/>
            <a:chExt cx="682752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Waste Diverted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926080" y="4030980"/>
            <a:ext cx="49377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Diverts plastic and wood waste from landfills and oceans annually at full capacity.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31303" y="2181863"/>
            <a:ext cx="7523483" cy="3225803"/>
            <a:chOff x="0" y="0"/>
            <a:chExt cx="10031311" cy="43010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9997440" cy="4267200"/>
            </a:xfrm>
            <a:custGeom>
              <a:avLst/>
              <a:gdLst/>
              <a:ahLst/>
              <a:cxnLst/>
              <a:rect r="r" b="b" t="t" l="l"/>
              <a:pathLst>
                <a:path h="4267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>
                <a:alpha val="77255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3122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4284091"/>
                  </a:lnTo>
                  <a:cubicBezTo>
                    <a:pt x="10031222" y="4293489"/>
                    <a:pt x="10023602" y="4300982"/>
                    <a:pt x="1001433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014331" y="4267200"/>
                  </a:lnTo>
                  <a:lnTo>
                    <a:pt x="10014331" y="4284091"/>
                  </a:lnTo>
                  <a:lnTo>
                    <a:pt x="9997440" y="428409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05623" y="2968247"/>
            <a:ext cx="1579883" cy="1579883"/>
            <a:chOff x="0" y="0"/>
            <a:chExt cx="2106511" cy="21065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lnTo>
                    <a:pt x="1053211" y="16891"/>
                  </a:lnTo>
                  <a:lnTo>
                    <a:pt x="1053211" y="0"/>
                  </a:lnTo>
                  <a:cubicBezTo>
                    <a:pt x="1634871" y="0"/>
                    <a:pt x="2106422" y="471551"/>
                    <a:pt x="2106422" y="1053211"/>
                  </a:cubicBezTo>
                  <a:lnTo>
                    <a:pt x="2089531" y="1053211"/>
                  </a:lnTo>
                  <a:lnTo>
                    <a:pt x="2106422" y="1053211"/>
                  </a:lnTo>
                  <a:cubicBezTo>
                    <a:pt x="2106422" y="1634871"/>
                    <a:pt x="1634871" y="2106422"/>
                    <a:pt x="1053211" y="2106422"/>
                  </a:cubicBezTo>
                  <a:lnTo>
                    <a:pt x="1053211" y="2089531"/>
                  </a:lnTo>
                  <a:lnTo>
                    <a:pt x="1053211" y="2106422"/>
                  </a:lnTo>
                  <a:cubicBezTo>
                    <a:pt x="471551" y="2106549"/>
                    <a:pt x="0" y="1634998"/>
                    <a:pt x="0" y="1053211"/>
                  </a:cubicBezTo>
                  <a:lnTo>
                    <a:pt x="16891" y="105321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0" y="1053211"/>
                  </a:lnTo>
                  <a:moveTo>
                    <a:pt x="33909" y="1053211"/>
                  </a:moveTo>
                  <a:cubicBezTo>
                    <a:pt x="33909" y="1062609"/>
                    <a:pt x="26289" y="1070102"/>
                    <a:pt x="17018" y="1070102"/>
                  </a:cubicBezTo>
                  <a:cubicBezTo>
                    <a:pt x="7747" y="1070102"/>
                    <a:pt x="0" y="1062609"/>
                    <a:pt x="0" y="1053211"/>
                  </a:cubicBezTo>
                  <a:cubicBezTo>
                    <a:pt x="0" y="1043813"/>
                    <a:pt x="7620" y="1036320"/>
                    <a:pt x="16891" y="1036320"/>
                  </a:cubicBezTo>
                  <a:cubicBezTo>
                    <a:pt x="26162" y="1036320"/>
                    <a:pt x="33782" y="1043940"/>
                    <a:pt x="33782" y="1053211"/>
                  </a:cubicBezTo>
                  <a:cubicBezTo>
                    <a:pt x="33782" y="1616202"/>
                    <a:pt x="490220" y="2072640"/>
                    <a:pt x="1053211" y="2072640"/>
                  </a:cubicBezTo>
                  <a:cubicBezTo>
                    <a:pt x="1616202" y="2072640"/>
                    <a:pt x="2072640" y="1616202"/>
                    <a:pt x="2072640" y="1053211"/>
                  </a:cubicBezTo>
                  <a:cubicBezTo>
                    <a:pt x="2072640" y="490220"/>
                    <a:pt x="1616202" y="33782"/>
                    <a:pt x="1053211" y="33782"/>
                  </a:cubicBezTo>
                  <a:lnTo>
                    <a:pt x="1053211" y="16891"/>
                  </a:lnTo>
                  <a:lnTo>
                    <a:pt x="1053211" y="33909"/>
                  </a:lnTo>
                  <a:cubicBezTo>
                    <a:pt x="490220" y="33909"/>
                    <a:pt x="33909" y="490220"/>
                    <a:pt x="33909" y="1053211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56064" y="3218688"/>
            <a:ext cx="1097280" cy="1097280"/>
            <a:chOff x="0" y="0"/>
            <a:chExt cx="1463040" cy="146304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247120" y="2377440"/>
            <a:ext cx="5120640" cy="1005840"/>
            <a:chOff x="0" y="0"/>
            <a:chExt cx="6827520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8275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2C5F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60% lower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247120" y="3383280"/>
            <a:ext cx="5120640" cy="640080"/>
            <a:chOff x="0" y="0"/>
            <a:chExt cx="682752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Carbon Reduction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338560" y="4030980"/>
            <a:ext cx="49377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Compared to virgin plastic manufacturing. Circular production dramatically cuts carbon footprint.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18823" y="6022343"/>
            <a:ext cx="7523483" cy="3225803"/>
            <a:chOff x="0" y="0"/>
            <a:chExt cx="10031311" cy="43010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9997440" cy="4267200"/>
            </a:xfrm>
            <a:custGeom>
              <a:avLst/>
              <a:gdLst/>
              <a:ahLst/>
              <a:cxnLst/>
              <a:rect r="r" b="b" t="t" l="l"/>
              <a:pathLst>
                <a:path h="4267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>
                <a:alpha val="77255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3122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4284091"/>
                  </a:lnTo>
                  <a:cubicBezTo>
                    <a:pt x="10031222" y="4293489"/>
                    <a:pt x="10023602" y="4300982"/>
                    <a:pt x="1001433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014331" y="4267200"/>
                  </a:lnTo>
                  <a:lnTo>
                    <a:pt x="10014331" y="4284091"/>
                  </a:lnTo>
                  <a:lnTo>
                    <a:pt x="9997440" y="428409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93143" y="6808727"/>
            <a:ext cx="1579883" cy="1579883"/>
            <a:chOff x="0" y="0"/>
            <a:chExt cx="2106511" cy="21065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lnTo>
                    <a:pt x="1053211" y="16891"/>
                  </a:lnTo>
                  <a:lnTo>
                    <a:pt x="1053211" y="0"/>
                  </a:lnTo>
                  <a:cubicBezTo>
                    <a:pt x="1634871" y="0"/>
                    <a:pt x="2106422" y="471551"/>
                    <a:pt x="2106422" y="1053211"/>
                  </a:cubicBezTo>
                  <a:lnTo>
                    <a:pt x="2089531" y="1053211"/>
                  </a:lnTo>
                  <a:lnTo>
                    <a:pt x="2106422" y="1053211"/>
                  </a:lnTo>
                  <a:cubicBezTo>
                    <a:pt x="2106422" y="1634871"/>
                    <a:pt x="1634871" y="2106422"/>
                    <a:pt x="1053211" y="2106422"/>
                  </a:cubicBezTo>
                  <a:lnTo>
                    <a:pt x="1053211" y="2089531"/>
                  </a:lnTo>
                  <a:lnTo>
                    <a:pt x="1053211" y="2106422"/>
                  </a:lnTo>
                  <a:cubicBezTo>
                    <a:pt x="471551" y="2106549"/>
                    <a:pt x="0" y="1634998"/>
                    <a:pt x="0" y="1053211"/>
                  </a:cubicBezTo>
                  <a:lnTo>
                    <a:pt x="16891" y="105321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0" y="1053211"/>
                  </a:lnTo>
                  <a:moveTo>
                    <a:pt x="33909" y="1053211"/>
                  </a:moveTo>
                  <a:cubicBezTo>
                    <a:pt x="33909" y="1062609"/>
                    <a:pt x="26289" y="1070102"/>
                    <a:pt x="17018" y="1070102"/>
                  </a:cubicBezTo>
                  <a:cubicBezTo>
                    <a:pt x="7747" y="1070102"/>
                    <a:pt x="0" y="1062609"/>
                    <a:pt x="0" y="1053211"/>
                  </a:cubicBezTo>
                  <a:cubicBezTo>
                    <a:pt x="0" y="1043813"/>
                    <a:pt x="7620" y="1036320"/>
                    <a:pt x="16891" y="1036320"/>
                  </a:cubicBezTo>
                  <a:cubicBezTo>
                    <a:pt x="26162" y="1036320"/>
                    <a:pt x="33782" y="1043940"/>
                    <a:pt x="33782" y="1053211"/>
                  </a:cubicBezTo>
                  <a:cubicBezTo>
                    <a:pt x="33782" y="1616202"/>
                    <a:pt x="490220" y="2072640"/>
                    <a:pt x="1053211" y="2072640"/>
                  </a:cubicBezTo>
                  <a:cubicBezTo>
                    <a:pt x="1616202" y="2072640"/>
                    <a:pt x="2072640" y="1616202"/>
                    <a:pt x="2072640" y="1053211"/>
                  </a:cubicBezTo>
                  <a:cubicBezTo>
                    <a:pt x="2072640" y="490220"/>
                    <a:pt x="1616202" y="33782"/>
                    <a:pt x="1053211" y="33782"/>
                  </a:cubicBezTo>
                  <a:lnTo>
                    <a:pt x="1053211" y="16891"/>
                  </a:lnTo>
                  <a:lnTo>
                    <a:pt x="1053211" y="33909"/>
                  </a:lnTo>
                  <a:cubicBezTo>
                    <a:pt x="490220" y="33909"/>
                    <a:pt x="33909" y="490220"/>
                    <a:pt x="33909" y="1053211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43584" y="7059168"/>
            <a:ext cx="1097280" cy="1097280"/>
            <a:chOff x="0" y="0"/>
            <a:chExt cx="1463040" cy="146304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834640" y="6217920"/>
            <a:ext cx="5120640" cy="1005840"/>
            <a:chOff x="0" y="0"/>
            <a:chExt cx="6827520" cy="1341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8275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2C5F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50+ jobs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834640" y="7223760"/>
            <a:ext cx="5120640" cy="640080"/>
            <a:chOff x="0" y="0"/>
            <a:chExt cx="682752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Jobs Created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926080" y="7871460"/>
            <a:ext cx="49377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Direct employment in collection, processing, and manufacturing — boosting local communities.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131303" y="6022343"/>
            <a:ext cx="7523483" cy="3225803"/>
            <a:chOff x="0" y="0"/>
            <a:chExt cx="10031311" cy="43010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9997440" cy="4267200"/>
            </a:xfrm>
            <a:custGeom>
              <a:avLst/>
              <a:gdLst/>
              <a:ahLst/>
              <a:cxnLst/>
              <a:rect r="r" b="b" t="t" l="l"/>
              <a:pathLst>
                <a:path h="4267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>
                <a:alpha val="77255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031222" cy="4300982"/>
            </a:xfrm>
            <a:custGeom>
              <a:avLst/>
              <a:gdLst/>
              <a:ahLst/>
              <a:cxnLst/>
              <a:rect r="r" b="b" t="t" l="l"/>
              <a:pathLst>
                <a:path h="430098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4284091"/>
                  </a:lnTo>
                  <a:cubicBezTo>
                    <a:pt x="10031222" y="4293489"/>
                    <a:pt x="10023602" y="4300982"/>
                    <a:pt x="1001433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10014331" y="4267200"/>
                  </a:lnTo>
                  <a:lnTo>
                    <a:pt x="10014331" y="4284091"/>
                  </a:lnTo>
                  <a:lnTo>
                    <a:pt x="9997440" y="4284091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405623" y="6808727"/>
            <a:ext cx="1579883" cy="1579883"/>
            <a:chOff x="0" y="0"/>
            <a:chExt cx="2106511" cy="21065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1036320"/>
                  </a:moveTo>
                  <a:cubicBezTo>
                    <a:pt x="0" y="463931"/>
                    <a:pt x="463931" y="0"/>
                    <a:pt x="1036320" y="0"/>
                  </a:cubicBezTo>
                  <a:cubicBezTo>
                    <a:pt x="1608709" y="0"/>
                    <a:pt x="2072640" y="463931"/>
                    <a:pt x="2072640" y="1036320"/>
                  </a:cubicBezTo>
                  <a:cubicBezTo>
                    <a:pt x="2072640" y="1608709"/>
                    <a:pt x="1608709" y="2072640"/>
                    <a:pt x="1036320" y="2072640"/>
                  </a:cubicBezTo>
                  <a:cubicBezTo>
                    <a:pt x="463931" y="2072640"/>
                    <a:pt x="0" y="1608709"/>
                    <a:pt x="0" y="10363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06422" cy="2106422"/>
            </a:xfrm>
            <a:custGeom>
              <a:avLst/>
              <a:gdLst/>
              <a:ahLst/>
              <a:cxnLst/>
              <a:rect r="r" b="b" t="t" l="l"/>
              <a:pathLst>
                <a:path h="2106422" w="2106422">
                  <a:moveTo>
                    <a:pt x="0" y="1053211"/>
                  </a:moveTo>
                  <a:cubicBezTo>
                    <a:pt x="0" y="471551"/>
                    <a:pt x="471551" y="0"/>
                    <a:pt x="1053211" y="0"/>
                  </a:cubicBezTo>
                  <a:lnTo>
                    <a:pt x="1053211" y="16891"/>
                  </a:lnTo>
                  <a:lnTo>
                    <a:pt x="1053211" y="0"/>
                  </a:lnTo>
                  <a:cubicBezTo>
                    <a:pt x="1634871" y="0"/>
                    <a:pt x="2106422" y="471551"/>
                    <a:pt x="2106422" y="1053211"/>
                  </a:cubicBezTo>
                  <a:lnTo>
                    <a:pt x="2089531" y="1053211"/>
                  </a:lnTo>
                  <a:lnTo>
                    <a:pt x="2106422" y="1053211"/>
                  </a:lnTo>
                  <a:cubicBezTo>
                    <a:pt x="2106422" y="1634871"/>
                    <a:pt x="1634871" y="2106422"/>
                    <a:pt x="1053211" y="2106422"/>
                  </a:cubicBezTo>
                  <a:lnTo>
                    <a:pt x="1053211" y="2089531"/>
                  </a:lnTo>
                  <a:lnTo>
                    <a:pt x="1053211" y="2106422"/>
                  </a:lnTo>
                  <a:cubicBezTo>
                    <a:pt x="471551" y="2106549"/>
                    <a:pt x="0" y="1634998"/>
                    <a:pt x="0" y="1053211"/>
                  </a:cubicBezTo>
                  <a:lnTo>
                    <a:pt x="16891" y="1053211"/>
                  </a:lnTo>
                  <a:lnTo>
                    <a:pt x="33909" y="1053211"/>
                  </a:lnTo>
                  <a:lnTo>
                    <a:pt x="16891" y="1053211"/>
                  </a:lnTo>
                  <a:lnTo>
                    <a:pt x="0" y="1053211"/>
                  </a:lnTo>
                  <a:moveTo>
                    <a:pt x="33909" y="1053211"/>
                  </a:moveTo>
                  <a:cubicBezTo>
                    <a:pt x="33909" y="1062609"/>
                    <a:pt x="26289" y="1070102"/>
                    <a:pt x="17018" y="1070102"/>
                  </a:cubicBezTo>
                  <a:cubicBezTo>
                    <a:pt x="7747" y="1070102"/>
                    <a:pt x="0" y="1062609"/>
                    <a:pt x="0" y="1053211"/>
                  </a:cubicBezTo>
                  <a:cubicBezTo>
                    <a:pt x="0" y="1043813"/>
                    <a:pt x="7620" y="1036320"/>
                    <a:pt x="16891" y="1036320"/>
                  </a:cubicBezTo>
                  <a:cubicBezTo>
                    <a:pt x="26162" y="1036320"/>
                    <a:pt x="33782" y="1043940"/>
                    <a:pt x="33782" y="1053211"/>
                  </a:cubicBezTo>
                  <a:cubicBezTo>
                    <a:pt x="33782" y="1616202"/>
                    <a:pt x="490220" y="2072640"/>
                    <a:pt x="1053211" y="2072640"/>
                  </a:cubicBezTo>
                  <a:cubicBezTo>
                    <a:pt x="1616202" y="2072640"/>
                    <a:pt x="2072640" y="1616202"/>
                    <a:pt x="2072640" y="1053211"/>
                  </a:cubicBezTo>
                  <a:cubicBezTo>
                    <a:pt x="2072640" y="490220"/>
                    <a:pt x="1616202" y="33782"/>
                    <a:pt x="1053211" y="33782"/>
                  </a:cubicBezTo>
                  <a:lnTo>
                    <a:pt x="1053211" y="16891"/>
                  </a:lnTo>
                  <a:lnTo>
                    <a:pt x="1053211" y="33909"/>
                  </a:lnTo>
                  <a:cubicBezTo>
                    <a:pt x="490220" y="33909"/>
                    <a:pt x="33909" y="490220"/>
                    <a:pt x="33909" y="1053211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56064" y="7059168"/>
            <a:ext cx="1097280" cy="1097280"/>
            <a:chOff x="0" y="0"/>
            <a:chExt cx="1463040" cy="1463040"/>
          </a:xfrm>
        </p:grpSpPr>
        <p:sp>
          <p:nvSpPr>
            <p:cNvPr name="Freeform 57" id="57" descr="preencoded.png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247120" y="6217920"/>
            <a:ext cx="5120640" cy="1005840"/>
            <a:chOff x="0" y="0"/>
            <a:chExt cx="6827520" cy="13411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682752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2C5F2D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 Goals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247120" y="7223760"/>
            <a:ext cx="5120640" cy="640080"/>
            <a:chOff x="0" y="0"/>
            <a:chExt cx="682752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97BC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SDG Alignment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1338560" y="7871460"/>
            <a:ext cx="493776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UN SDGs: No Poverty, Good Health, Decent Work, Industry &amp; Innovation, Climate Action.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854203"/>
            <a:chOff x="0" y="0"/>
            <a:chExt cx="24417871" cy="24722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55291"/>
                  </a:lnTo>
                  <a:cubicBezTo>
                    <a:pt x="24417782" y="2464689"/>
                    <a:pt x="24410163" y="2472182"/>
                    <a:pt x="24400890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4400890" y="2438400"/>
                  </a:lnTo>
                  <a:lnTo>
                    <a:pt x="24400890" y="2455291"/>
                  </a:lnTo>
                  <a:lnTo>
                    <a:pt x="24384000" y="24552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82880"/>
            <a:ext cx="16459200" cy="1463040"/>
            <a:chOff x="0" y="0"/>
            <a:chExt cx="219456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195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OUR TEAM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2181863"/>
            <a:ext cx="7706363" cy="7157723"/>
            <a:chOff x="0" y="0"/>
            <a:chExt cx="10275151" cy="95436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241281" cy="9509760"/>
            </a:xfrm>
            <a:custGeom>
              <a:avLst/>
              <a:gdLst/>
              <a:ahLst/>
              <a:cxnLst/>
              <a:rect r="r" b="b" t="t" l="l"/>
              <a:pathLst>
                <a:path h="9509760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75062" cy="9543542"/>
            </a:xfrm>
            <a:custGeom>
              <a:avLst/>
              <a:gdLst/>
              <a:ahLst/>
              <a:cxnLst/>
              <a:rect r="r" b="b" t="t" l="l"/>
              <a:pathLst>
                <a:path h="954354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9526651"/>
                  </a:lnTo>
                  <a:cubicBezTo>
                    <a:pt x="10275062" y="9536049"/>
                    <a:pt x="10267442" y="9543542"/>
                    <a:pt x="10258172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10258172" y="9509760"/>
                  </a:lnTo>
                  <a:lnTo>
                    <a:pt x="10258172" y="9526651"/>
                  </a:lnTo>
                  <a:lnTo>
                    <a:pt x="10241280" y="9526651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26357" y="2534917"/>
            <a:ext cx="3891277" cy="3891277"/>
            <a:chOff x="0" y="0"/>
            <a:chExt cx="5188369" cy="51883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909" y="33909"/>
              <a:ext cx="51206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120640">
                  <a:moveTo>
                    <a:pt x="0" y="2560320"/>
                  </a:moveTo>
                  <a:cubicBezTo>
                    <a:pt x="0" y="1146302"/>
                    <a:pt x="1146302" y="0"/>
                    <a:pt x="2560320" y="0"/>
                  </a:cubicBezTo>
                  <a:cubicBezTo>
                    <a:pt x="3974338" y="0"/>
                    <a:pt x="5120640" y="1146302"/>
                    <a:pt x="5120640" y="2560320"/>
                  </a:cubicBezTo>
                  <a:cubicBezTo>
                    <a:pt x="5120640" y="3974338"/>
                    <a:pt x="3974338" y="5120640"/>
                    <a:pt x="2560320" y="5120640"/>
                  </a:cubicBezTo>
                  <a:cubicBezTo>
                    <a:pt x="1146302" y="5120640"/>
                    <a:pt x="0" y="3974338"/>
                    <a:pt x="0" y="256032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88331" cy="5188458"/>
            </a:xfrm>
            <a:custGeom>
              <a:avLst/>
              <a:gdLst/>
              <a:ahLst/>
              <a:cxnLst/>
              <a:rect r="r" b="b" t="t" l="l"/>
              <a:pathLst>
                <a:path h="5188458" w="5188331">
                  <a:moveTo>
                    <a:pt x="0" y="2594229"/>
                  </a:moveTo>
                  <a:cubicBezTo>
                    <a:pt x="0" y="1161415"/>
                    <a:pt x="1161415" y="0"/>
                    <a:pt x="2594229" y="0"/>
                  </a:cubicBezTo>
                  <a:lnTo>
                    <a:pt x="2594229" y="33909"/>
                  </a:lnTo>
                  <a:lnTo>
                    <a:pt x="2594229" y="0"/>
                  </a:lnTo>
                  <a:cubicBezTo>
                    <a:pt x="4026916" y="0"/>
                    <a:pt x="5188331" y="1161415"/>
                    <a:pt x="5188331" y="2594229"/>
                  </a:cubicBezTo>
                  <a:lnTo>
                    <a:pt x="5154422" y="2594229"/>
                  </a:lnTo>
                  <a:lnTo>
                    <a:pt x="5188331" y="2594229"/>
                  </a:lnTo>
                  <a:cubicBezTo>
                    <a:pt x="5188331" y="4026916"/>
                    <a:pt x="4026916" y="5188458"/>
                    <a:pt x="2594102" y="5188458"/>
                  </a:cubicBezTo>
                  <a:lnTo>
                    <a:pt x="2594102" y="5154549"/>
                  </a:lnTo>
                  <a:lnTo>
                    <a:pt x="2594102" y="5188458"/>
                  </a:lnTo>
                  <a:cubicBezTo>
                    <a:pt x="1161415" y="5188331"/>
                    <a:pt x="0" y="4026916"/>
                    <a:pt x="0" y="2594229"/>
                  </a:cubicBezTo>
                  <a:lnTo>
                    <a:pt x="33909" y="2594229"/>
                  </a:lnTo>
                  <a:lnTo>
                    <a:pt x="67691" y="2594229"/>
                  </a:lnTo>
                  <a:lnTo>
                    <a:pt x="33909" y="2594229"/>
                  </a:lnTo>
                  <a:lnTo>
                    <a:pt x="0" y="2594229"/>
                  </a:lnTo>
                  <a:moveTo>
                    <a:pt x="67691" y="2594229"/>
                  </a:moveTo>
                  <a:cubicBezTo>
                    <a:pt x="67691" y="2612898"/>
                    <a:pt x="52578" y="2628138"/>
                    <a:pt x="33782" y="2628138"/>
                  </a:cubicBezTo>
                  <a:cubicBezTo>
                    <a:pt x="14986" y="2628138"/>
                    <a:pt x="0" y="2612898"/>
                    <a:pt x="0" y="2594229"/>
                  </a:cubicBezTo>
                  <a:cubicBezTo>
                    <a:pt x="0" y="2575560"/>
                    <a:pt x="15113" y="2560320"/>
                    <a:pt x="33909" y="2560320"/>
                  </a:cubicBezTo>
                  <a:cubicBezTo>
                    <a:pt x="52705" y="2560320"/>
                    <a:pt x="67818" y="2575433"/>
                    <a:pt x="67818" y="2594229"/>
                  </a:cubicBezTo>
                  <a:cubicBezTo>
                    <a:pt x="67691" y="3989451"/>
                    <a:pt x="1198880" y="5120640"/>
                    <a:pt x="2594229" y="5120640"/>
                  </a:cubicBezTo>
                  <a:cubicBezTo>
                    <a:pt x="3989578" y="5120640"/>
                    <a:pt x="5120640" y="3989451"/>
                    <a:pt x="5120640" y="2594229"/>
                  </a:cubicBezTo>
                  <a:cubicBezTo>
                    <a:pt x="5120640" y="1198880"/>
                    <a:pt x="3989451" y="67691"/>
                    <a:pt x="2594229" y="67691"/>
                  </a:cubicBezTo>
                  <a:lnTo>
                    <a:pt x="2594229" y="33909"/>
                  </a:lnTo>
                  <a:lnTo>
                    <a:pt x="2594229" y="67691"/>
                  </a:lnTo>
                  <a:cubicBezTo>
                    <a:pt x="1198880" y="67691"/>
                    <a:pt x="67691" y="1198880"/>
                    <a:pt x="67691" y="2594229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6675120"/>
            <a:ext cx="7315200" cy="822960"/>
            <a:chOff x="0" y="0"/>
            <a:chExt cx="97536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Jakir Hossain Joy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7498080"/>
            <a:ext cx="7315200" cy="640080"/>
            <a:chOff x="0" y="0"/>
            <a:chExt cx="97536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753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2C5F2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Founder &amp; CEO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8229600"/>
            <a:ext cx="7315200" cy="1005840"/>
            <a:chOff x="0" y="0"/>
            <a:chExt cx="975360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753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Experienced in sustainable product development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Passionate about eco-friendly innovations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Leading ReiKarts from concept to market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31303" y="2181863"/>
            <a:ext cx="4048763" cy="3225803"/>
            <a:chOff x="0" y="0"/>
            <a:chExt cx="5398351" cy="4301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364480" cy="4267200"/>
            </a:xfrm>
            <a:custGeom>
              <a:avLst/>
              <a:gdLst/>
              <a:ahLst/>
              <a:cxnLst/>
              <a:rect r="r" b="b" t="t" l="l"/>
              <a:pathLst>
                <a:path h="4267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98262" cy="4300982"/>
            </a:xfrm>
            <a:custGeom>
              <a:avLst/>
              <a:gdLst/>
              <a:ahLst/>
              <a:cxnLst/>
              <a:rect r="r" b="b" t="t" l="l"/>
              <a:pathLst>
                <a:path h="43009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284091"/>
                  </a:lnTo>
                  <a:cubicBezTo>
                    <a:pt x="5398262" y="4293489"/>
                    <a:pt x="5390642" y="4300982"/>
                    <a:pt x="538137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5381371" y="4267200"/>
                  </a:lnTo>
                  <a:lnTo>
                    <a:pt x="5381371" y="4284091"/>
                  </a:lnTo>
                  <a:lnTo>
                    <a:pt x="5364480" y="42840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31303" y="2181863"/>
            <a:ext cx="4048763" cy="756923"/>
            <a:chOff x="0" y="0"/>
            <a:chExt cx="5398351" cy="10092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8262" cy="1009144"/>
            </a:xfrm>
            <a:custGeom>
              <a:avLst/>
              <a:gdLst/>
              <a:ahLst/>
              <a:cxnLst/>
              <a:rect r="r" b="b" t="t" l="l"/>
              <a:pathLst>
                <a:path h="100914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992251"/>
                  </a:lnTo>
                  <a:cubicBezTo>
                    <a:pt x="5398262" y="1001649"/>
                    <a:pt x="5390642" y="1009142"/>
                    <a:pt x="538137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381371" y="975360"/>
                  </a:lnTo>
                  <a:lnTo>
                    <a:pt x="5381371" y="992251"/>
                  </a:lnTo>
                  <a:lnTo>
                    <a:pt x="5364480" y="99225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235440" y="2267712"/>
            <a:ext cx="3840480" cy="585216"/>
            <a:chOff x="0" y="0"/>
            <a:chExt cx="5120640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1206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Recycling Engineer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520423" y="2181863"/>
            <a:ext cx="4048763" cy="3225803"/>
            <a:chOff x="0" y="0"/>
            <a:chExt cx="5398351" cy="43010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364480" cy="4267200"/>
            </a:xfrm>
            <a:custGeom>
              <a:avLst/>
              <a:gdLst/>
              <a:ahLst/>
              <a:cxnLst/>
              <a:rect r="r" b="b" t="t" l="l"/>
              <a:pathLst>
                <a:path h="4267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98262" cy="4300982"/>
            </a:xfrm>
            <a:custGeom>
              <a:avLst/>
              <a:gdLst/>
              <a:ahLst/>
              <a:cxnLst/>
              <a:rect r="r" b="b" t="t" l="l"/>
              <a:pathLst>
                <a:path h="43009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284091"/>
                  </a:lnTo>
                  <a:cubicBezTo>
                    <a:pt x="5398262" y="4293489"/>
                    <a:pt x="5390642" y="4300982"/>
                    <a:pt x="538137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5381371" y="4267200"/>
                  </a:lnTo>
                  <a:lnTo>
                    <a:pt x="5381371" y="4284091"/>
                  </a:lnTo>
                  <a:lnTo>
                    <a:pt x="5364480" y="42840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520423" y="2181863"/>
            <a:ext cx="4048763" cy="756923"/>
            <a:chOff x="0" y="0"/>
            <a:chExt cx="5398351" cy="10092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262" cy="1009144"/>
            </a:xfrm>
            <a:custGeom>
              <a:avLst/>
              <a:gdLst/>
              <a:ahLst/>
              <a:cxnLst/>
              <a:rect r="r" b="b" t="t" l="l"/>
              <a:pathLst>
                <a:path h="100914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992251"/>
                  </a:lnTo>
                  <a:cubicBezTo>
                    <a:pt x="5398262" y="1001649"/>
                    <a:pt x="5390642" y="1009142"/>
                    <a:pt x="538137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381371" y="975360"/>
                  </a:lnTo>
                  <a:lnTo>
                    <a:pt x="5381371" y="992251"/>
                  </a:lnTo>
                  <a:lnTo>
                    <a:pt x="5364480" y="99225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624560" y="2267712"/>
            <a:ext cx="3840480" cy="585216"/>
            <a:chOff x="0" y="0"/>
            <a:chExt cx="5120640" cy="7802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1206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Designer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31303" y="5748023"/>
            <a:ext cx="4048763" cy="3225803"/>
            <a:chOff x="0" y="0"/>
            <a:chExt cx="5398351" cy="43010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364480" cy="4267200"/>
            </a:xfrm>
            <a:custGeom>
              <a:avLst/>
              <a:gdLst/>
              <a:ahLst/>
              <a:cxnLst/>
              <a:rect r="r" b="b" t="t" l="l"/>
              <a:pathLst>
                <a:path h="4267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98262" cy="4300982"/>
            </a:xfrm>
            <a:custGeom>
              <a:avLst/>
              <a:gdLst/>
              <a:ahLst/>
              <a:cxnLst/>
              <a:rect r="r" b="b" t="t" l="l"/>
              <a:pathLst>
                <a:path h="43009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284091"/>
                  </a:lnTo>
                  <a:cubicBezTo>
                    <a:pt x="5398262" y="4293489"/>
                    <a:pt x="5390642" y="4300982"/>
                    <a:pt x="538137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5381371" y="4267200"/>
                  </a:lnTo>
                  <a:lnTo>
                    <a:pt x="5381371" y="4284091"/>
                  </a:lnTo>
                  <a:lnTo>
                    <a:pt x="5364480" y="42840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131303" y="5748023"/>
            <a:ext cx="4048763" cy="756923"/>
            <a:chOff x="0" y="0"/>
            <a:chExt cx="5398351" cy="100923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8262" cy="1009144"/>
            </a:xfrm>
            <a:custGeom>
              <a:avLst/>
              <a:gdLst/>
              <a:ahLst/>
              <a:cxnLst/>
              <a:rect r="r" b="b" t="t" l="l"/>
              <a:pathLst>
                <a:path h="100914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992251"/>
                  </a:lnTo>
                  <a:cubicBezTo>
                    <a:pt x="5398262" y="1001649"/>
                    <a:pt x="5390642" y="1009142"/>
                    <a:pt x="538137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381371" y="975360"/>
                  </a:lnTo>
                  <a:lnTo>
                    <a:pt x="5381371" y="992251"/>
                  </a:lnTo>
                  <a:lnTo>
                    <a:pt x="5364480" y="99225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235440" y="5833872"/>
            <a:ext cx="3840480" cy="585216"/>
            <a:chOff x="0" y="0"/>
            <a:chExt cx="5120640" cy="7802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1206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Marketing Lead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20423" y="5748023"/>
            <a:ext cx="4048763" cy="3225803"/>
            <a:chOff x="0" y="0"/>
            <a:chExt cx="5398351" cy="43010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364480" cy="4267200"/>
            </a:xfrm>
            <a:custGeom>
              <a:avLst/>
              <a:gdLst/>
              <a:ahLst/>
              <a:cxnLst/>
              <a:rect r="r" b="b" t="t" l="l"/>
              <a:pathLst>
                <a:path h="4267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267200"/>
                  </a:lnTo>
                  <a:lnTo>
                    <a:pt x="0" y="4267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98262" cy="4300982"/>
            </a:xfrm>
            <a:custGeom>
              <a:avLst/>
              <a:gdLst/>
              <a:ahLst/>
              <a:cxnLst/>
              <a:rect r="r" b="b" t="t" l="l"/>
              <a:pathLst>
                <a:path h="43009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284091"/>
                  </a:lnTo>
                  <a:cubicBezTo>
                    <a:pt x="5398262" y="4293489"/>
                    <a:pt x="5390642" y="4300982"/>
                    <a:pt x="5381371" y="4300982"/>
                  </a:cubicBezTo>
                  <a:lnTo>
                    <a:pt x="16891" y="4300982"/>
                  </a:lnTo>
                  <a:cubicBezTo>
                    <a:pt x="7493" y="4300982"/>
                    <a:pt x="0" y="4293362"/>
                    <a:pt x="0" y="4284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16891" y="4267200"/>
                  </a:lnTo>
                  <a:lnTo>
                    <a:pt x="5381371" y="4267200"/>
                  </a:lnTo>
                  <a:lnTo>
                    <a:pt x="5381371" y="4284091"/>
                  </a:lnTo>
                  <a:lnTo>
                    <a:pt x="5364480" y="42840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520423" y="5748023"/>
            <a:ext cx="4048763" cy="756923"/>
            <a:chOff x="0" y="0"/>
            <a:chExt cx="5398351" cy="10092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98262" cy="1009144"/>
            </a:xfrm>
            <a:custGeom>
              <a:avLst/>
              <a:gdLst/>
              <a:ahLst/>
              <a:cxnLst/>
              <a:rect r="r" b="b" t="t" l="l"/>
              <a:pathLst>
                <a:path h="1009144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992251"/>
                  </a:lnTo>
                  <a:cubicBezTo>
                    <a:pt x="5398262" y="1001649"/>
                    <a:pt x="5390642" y="1009142"/>
                    <a:pt x="538137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5381371" y="975360"/>
                  </a:lnTo>
                  <a:lnTo>
                    <a:pt x="5381371" y="992251"/>
                  </a:lnTo>
                  <a:lnTo>
                    <a:pt x="5364480" y="99225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624560" y="5833872"/>
            <a:ext cx="3840480" cy="585216"/>
            <a:chOff x="0" y="0"/>
            <a:chExt cx="512064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70" r="0" b="-7787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1206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Supply Chain Manager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418320" y="3116580"/>
            <a:ext cx="34747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Expert in plastic &amp; wood processing technology, machinery operation, and process optimization.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807440" y="3116580"/>
            <a:ext cx="34747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Specializes in eyewear aesthetics, ergonomics, and sustainable material design.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418320" y="6682740"/>
            <a:ext cx="34747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Builds brand presence across eco-conscious markets and manages brand partnerships.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807440" y="6682740"/>
            <a:ext cx="347472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Manages waste collection networks, supplier relationships, and logistics.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FUNDING ASK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60997" y="1894837"/>
            <a:ext cx="7365997" cy="2428237"/>
            <a:chOff x="0" y="0"/>
            <a:chExt cx="9821329" cy="32376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3909" y="33909"/>
              <a:ext cx="9753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21418" cy="3237738"/>
            </a:xfrm>
            <a:custGeom>
              <a:avLst/>
              <a:gdLst/>
              <a:ahLst/>
              <a:cxnLst/>
              <a:rect r="r" b="b" t="t" l="l"/>
              <a:pathLst>
                <a:path h="3237738" w="9821418">
                  <a:moveTo>
                    <a:pt x="33909" y="0"/>
                  </a:moveTo>
                  <a:lnTo>
                    <a:pt x="9787509" y="0"/>
                  </a:lnTo>
                  <a:cubicBezTo>
                    <a:pt x="9806178" y="0"/>
                    <a:pt x="9821418" y="15113"/>
                    <a:pt x="9821418" y="33909"/>
                  </a:cubicBezTo>
                  <a:lnTo>
                    <a:pt x="9821418" y="3203829"/>
                  </a:lnTo>
                  <a:cubicBezTo>
                    <a:pt x="9821418" y="3222498"/>
                    <a:pt x="9806305" y="3237738"/>
                    <a:pt x="9787509" y="3237738"/>
                  </a:cubicBezTo>
                  <a:lnTo>
                    <a:pt x="33909" y="3237738"/>
                  </a:lnTo>
                  <a:cubicBezTo>
                    <a:pt x="15240" y="3237738"/>
                    <a:pt x="0" y="3222625"/>
                    <a:pt x="0" y="320382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203829"/>
                  </a:lnTo>
                  <a:lnTo>
                    <a:pt x="33909" y="3203829"/>
                  </a:lnTo>
                  <a:lnTo>
                    <a:pt x="33909" y="3169920"/>
                  </a:lnTo>
                  <a:lnTo>
                    <a:pt x="9787509" y="3169920"/>
                  </a:lnTo>
                  <a:lnTo>
                    <a:pt x="9787509" y="3203829"/>
                  </a:lnTo>
                  <a:lnTo>
                    <a:pt x="9753600" y="3203829"/>
                  </a:lnTo>
                  <a:lnTo>
                    <a:pt x="9753600" y="33909"/>
                  </a:lnTo>
                  <a:lnTo>
                    <a:pt x="9787509" y="33909"/>
                  </a:lnTo>
                  <a:lnTo>
                    <a:pt x="97875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0" y="2011680"/>
            <a:ext cx="7315200" cy="1463040"/>
            <a:chOff x="0" y="0"/>
            <a:chExt cx="9753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40"/>
                </a:lnSpc>
              </a:pPr>
              <a:r>
                <a:rPr lang="en-US" sz="9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$260,000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0" y="3474720"/>
            <a:ext cx="7315200" cy="640080"/>
            <a:chOff x="0" y="0"/>
            <a:chExt cx="975360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97BC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SEED FUNDING REQUIRED</a:t>
              </a:r>
            </a:p>
          </p:txBody>
        </p:sp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4320" y="3931920"/>
            <a:ext cx="9875520" cy="676656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 rot="0">
            <a:off x="9314183" y="4833623"/>
            <a:ext cx="8255003" cy="1488443"/>
            <a:chOff x="0" y="0"/>
            <a:chExt cx="11006671" cy="19845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10972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06582" cy="1984502"/>
            </a:xfrm>
            <a:custGeom>
              <a:avLst/>
              <a:gdLst/>
              <a:ahLst/>
              <a:cxnLst/>
              <a:rect r="r" b="b" t="t" l="l"/>
              <a:pathLst>
                <a:path h="19845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967611"/>
                  </a:lnTo>
                  <a:cubicBezTo>
                    <a:pt x="11006582" y="1977009"/>
                    <a:pt x="10998962" y="1984502"/>
                    <a:pt x="1098969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10989691" y="1950720"/>
                  </a:lnTo>
                  <a:lnTo>
                    <a:pt x="10989691" y="1967611"/>
                  </a:lnTo>
                  <a:lnTo>
                    <a:pt x="10972800" y="19676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14183" y="4833623"/>
            <a:ext cx="171707" cy="1488443"/>
            <a:chOff x="0" y="0"/>
            <a:chExt cx="228943" cy="19845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195072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8854" cy="1984502"/>
            </a:xfrm>
            <a:custGeom>
              <a:avLst/>
              <a:gdLst/>
              <a:ahLst/>
              <a:cxnLst/>
              <a:rect r="r" b="b" t="t" l="l"/>
              <a:pathLst>
                <a:path h="198450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967611"/>
                  </a:lnTo>
                  <a:cubicBezTo>
                    <a:pt x="228854" y="1977009"/>
                    <a:pt x="221234" y="1984502"/>
                    <a:pt x="211963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11963" y="1950720"/>
                  </a:lnTo>
                  <a:lnTo>
                    <a:pt x="211963" y="1967611"/>
                  </a:lnTo>
                  <a:lnTo>
                    <a:pt x="195072" y="19676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56064" y="4937760"/>
            <a:ext cx="7498080" cy="548640"/>
            <a:chOff x="0" y="0"/>
            <a:chExt cx="99974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Machinery &amp; Equipment  46%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56064" y="5541264"/>
            <a:ext cx="7498080" cy="640080"/>
            <a:chOff x="0" y="0"/>
            <a:chExt cx="999744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$120,000  —  Shredders, pelletizers, injection molds, CNC machines, QA tools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14183" y="6534407"/>
            <a:ext cx="8255003" cy="1488443"/>
            <a:chOff x="0" y="0"/>
            <a:chExt cx="11006671" cy="19845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0972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06582" cy="1984502"/>
            </a:xfrm>
            <a:custGeom>
              <a:avLst/>
              <a:gdLst/>
              <a:ahLst/>
              <a:cxnLst/>
              <a:rect r="r" b="b" t="t" l="l"/>
              <a:pathLst>
                <a:path h="19845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967611"/>
                  </a:lnTo>
                  <a:cubicBezTo>
                    <a:pt x="11006582" y="1977009"/>
                    <a:pt x="10998962" y="1984502"/>
                    <a:pt x="1098969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10989691" y="1950720"/>
                  </a:lnTo>
                  <a:lnTo>
                    <a:pt x="10989691" y="1967611"/>
                  </a:lnTo>
                  <a:lnTo>
                    <a:pt x="10972800" y="19676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14183" y="6534407"/>
            <a:ext cx="171707" cy="1488443"/>
            <a:chOff x="0" y="0"/>
            <a:chExt cx="228943" cy="19845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195072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8854" cy="1984502"/>
            </a:xfrm>
            <a:custGeom>
              <a:avLst/>
              <a:gdLst/>
              <a:ahLst/>
              <a:cxnLst/>
              <a:rect r="r" b="b" t="t" l="l"/>
              <a:pathLst>
                <a:path h="198450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967611"/>
                  </a:lnTo>
                  <a:cubicBezTo>
                    <a:pt x="228854" y="1977009"/>
                    <a:pt x="221234" y="1984502"/>
                    <a:pt x="211963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11963" y="1950720"/>
                  </a:lnTo>
                  <a:lnTo>
                    <a:pt x="211963" y="1967611"/>
                  </a:lnTo>
                  <a:lnTo>
                    <a:pt x="195072" y="19676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56064" y="6638544"/>
            <a:ext cx="7498080" cy="548640"/>
            <a:chOff x="0" y="0"/>
            <a:chExt cx="999744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Facility Setup  31%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56064" y="7242048"/>
            <a:ext cx="7498080" cy="640080"/>
            <a:chOff x="0" y="0"/>
            <a:chExt cx="999744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$80,000  —  Factory lease, utilities, storage, safety systems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14183" y="8235191"/>
            <a:ext cx="8255003" cy="1488443"/>
            <a:chOff x="0" y="0"/>
            <a:chExt cx="11006671" cy="19845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10972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252525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006582" cy="1984502"/>
            </a:xfrm>
            <a:custGeom>
              <a:avLst/>
              <a:gdLst/>
              <a:ahLst/>
              <a:cxnLst/>
              <a:rect r="r" b="b" t="t" l="l"/>
              <a:pathLst>
                <a:path h="198450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967611"/>
                  </a:lnTo>
                  <a:cubicBezTo>
                    <a:pt x="11006582" y="1977009"/>
                    <a:pt x="10998962" y="1984502"/>
                    <a:pt x="1098969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10989691" y="1950720"/>
                  </a:lnTo>
                  <a:lnTo>
                    <a:pt x="10989691" y="1967611"/>
                  </a:lnTo>
                  <a:lnTo>
                    <a:pt x="10972800" y="196761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314183" y="8235191"/>
            <a:ext cx="171707" cy="1488443"/>
            <a:chOff x="0" y="0"/>
            <a:chExt cx="228943" cy="19845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95072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8854" cy="1984502"/>
            </a:xfrm>
            <a:custGeom>
              <a:avLst/>
              <a:gdLst/>
              <a:ahLst/>
              <a:cxnLst/>
              <a:rect r="r" b="b" t="t" l="l"/>
              <a:pathLst>
                <a:path h="198450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967611"/>
                  </a:lnTo>
                  <a:cubicBezTo>
                    <a:pt x="228854" y="1977009"/>
                    <a:pt x="221234" y="1984502"/>
                    <a:pt x="211963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11963" y="1950720"/>
                  </a:lnTo>
                  <a:lnTo>
                    <a:pt x="211963" y="1967611"/>
                  </a:lnTo>
                  <a:lnTo>
                    <a:pt x="195072" y="19676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56064" y="8339328"/>
            <a:ext cx="7498080" cy="548640"/>
            <a:chOff x="0" y="0"/>
            <a:chExt cx="999744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Marketing &amp; Branding  23%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56064" y="8942832"/>
            <a:ext cx="7498080" cy="640080"/>
            <a:chOff x="0" y="0"/>
            <a:chExt cx="9997440" cy="853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$60,000  —  Brand identity, digital marketing, trade shows, partnerships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27558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97BC62">
                <a:alpha val="5882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97BC62">
                <a:alpha val="5882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755897" y="5473703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97BC62">
                <a:alpha val="392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97BC62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097280"/>
            <a:ext cx="16459200" cy="1645920"/>
            <a:chOff x="0" y="0"/>
            <a:chExt cx="21945600" cy="2194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JOIN THE MOVEMENT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" y="2926080"/>
            <a:ext cx="15361920" cy="1463040"/>
            <a:chOff x="0" y="0"/>
            <a:chExt cx="2048256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825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04825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97BC6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Partner with Reikarts to transform waste into premium eyewear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97BC6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and build a sustainable future for fashion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1703" y="4925063"/>
            <a:ext cx="5328923" cy="3134363"/>
            <a:chOff x="0" y="0"/>
            <a:chExt cx="7105231" cy="4179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0713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051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162171"/>
                  </a:lnTo>
                  <a:cubicBezTo>
                    <a:pt x="7105142" y="4171569"/>
                    <a:pt x="7097522" y="4179062"/>
                    <a:pt x="70882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088251" y="4145280"/>
                  </a:lnTo>
                  <a:lnTo>
                    <a:pt x="7088251" y="4162171"/>
                  </a:lnTo>
                  <a:lnTo>
                    <a:pt x="7071360" y="41621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913383" y="5107943"/>
            <a:ext cx="1305563" cy="1305563"/>
            <a:chOff x="0" y="0"/>
            <a:chExt cx="1740751" cy="17407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072384" y="5266944"/>
            <a:ext cx="987552" cy="987552"/>
            <a:chOff x="0" y="0"/>
            <a:chExt cx="1316736" cy="1316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6675120"/>
            <a:ext cx="5303520" cy="548640"/>
            <a:chOff x="0" y="0"/>
            <a:chExt cx="70713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Email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7223760"/>
            <a:ext cx="5303520" cy="640080"/>
            <a:chOff x="0" y="0"/>
            <a:chExt cx="707136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071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jakirhossainjoy77@gmail.com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70983" y="4925063"/>
            <a:ext cx="5328923" cy="3134363"/>
            <a:chOff x="0" y="0"/>
            <a:chExt cx="7105231" cy="41791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70713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051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162171"/>
                  </a:lnTo>
                  <a:cubicBezTo>
                    <a:pt x="7105142" y="4171569"/>
                    <a:pt x="7097522" y="4179062"/>
                    <a:pt x="70882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088251" y="4145280"/>
                  </a:lnTo>
                  <a:lnTo>
                    <a:pt x="7088251" y="4162171"/>
                  </a:lnTo>
                  <a:lnTo>
                    <a:pt x="7071360" y="41621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82663" y="5107943"/>
            <a:ext cx="1305563" cy="1305563"/>
            <a:chOff x="0" y="0"/>
            <a:chExt cx="1740751" cy="17407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741664" y="5266944"/>
            <a:ext cx="987552" cy="987552"/>
            <a:chOff x="0" y="0"/>
            <a:chExt cx="1316736" cy="1316736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583680" y="6675120"/>
            <a:ext cx="5303520" cy="548640"/>
            <a:chOff x="0" y="0"/>
            <a:chExt cx="707136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Phone / WhatsApp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583680" y="7223760"/>
            <a:ext cx="5303520" cy="640080"/>
            <a:chOff x="0" y="0"/>
            <a:chExt cx="707136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071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+880 1707 370 333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40263" y="4925063"/>
            <a:ext cx="5328923" cy="3134363"/>
            <a:chOff x="0" y="0"/>
            <a:chExt cx="7105231" cy="41791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7071360" cy="4145280"/>
            </a:xfrm>
            <a:custGeom>
              <a:avLst/>
              <a:gdLst/>
              <a:ahLst/>
              <a:cxnLst/>
              <a:rect r="r" b="b" t="t" l="l"/>
              <a:pathLst>
                <a:path h="414528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05142" cy="4179062"/>
            </a:xfrm>
            <a:custGeom>
              <a:avLst/>
              <a:gdLst/>
              <a:ahLst/>
              <a:cxnLst/>
              <a:rect r="r" b="b" t="t" l="l"/>
              <a:pathLst>
                <a:path h="417906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4162171"/>
                  </a:lnTo>
                  <a:cubicBezTo>
                    <a:pt x="7105142" y="4171569"/>
                    <a:pt x="7097522" y="4179062"/>
                    <a:pt x="708825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7088251" y="4145280"/>
                  </a:lnTo>
                  <a:lnTo>
                    <a:pt x="7088251" y="4162171"/>
                  </a:lnTo>
                  <a:lnTo>
                    <a:pt x="7071360" y="416217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251943" y="5107943"/>
            <a:ext cx="1305563" cy="1305563"/>
            <a:chOff x="0" y="0"/>
            <a:chExt cx="1740751" cy="174075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410944" y="5266944"/>
            <a:ext cx="987552" cy="987552"/>
            <a:chOff x="0" y="0"/>
            <a:chExt cx="1316736" cy="1316736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252960" y="6675120"/>
            <a:ext cx="5303520" cy="548640"/>
            <a:chOff x="0" y="0"/>
            <a:chExt cx="70713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071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252960" y="7223760"/>
            <a:ext cx="5303520" cy="640080"/>
            <a:chOff x="0" y="0"/>
            <a:chExt cx="707136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071360" cy="853440"/>
            </a:xfrm>
            <a:custGeom>
              <a:avLst/>
              <a:gdLst/>
              <a:ahLst/>
              <a:cxnLst/>
              <a:rect r="r" b="b" t="t" l="l"/>
              <a:pathLst>
                <a:path h="853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0713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Dhaka, Bangladesh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400" y="9326880"/>
            <a:ext cx="16459200" cy="640080"/>
            <a:chOff x="0" y="0"/>
            <a:chExt cx="2194560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A5D6A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Re|Karts — Transforming Waste Into Best Eye Frames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8741664" y="5225158"/>
            <a:ext cx="1029338" cy="1029338"/>
          </a:xfrm>
          <a:custGeom>
            <a:avLst/>
            <a:gdLst/>
            <a:ahLst/>
            <a:cxnLst/>
            <a:rect r="r" b="b" t="t" l="l"/>
            <a:pathLst>
              <a:path h="1029338" w="1029338">
                <a:moveTo>
                  <a:pt x="0" y="0"/>
                </a:moveTo>
                <a:lnTo>
                  <a:pt x="1029338" y="0"/>
                </a:lnTo>
                <a:lnTo>
                  <a:pt x="1029338" y="1029338"/>
                </a:lnTo>
                <a:lnTo>
                  <a:pt x="0" y="1029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4341067" y="5206588"/>
            <a:ext cx="1127315" cy="1127315"/>
          </a:xfrm>
          <a:custGeom>
            <a:avLst/>
            <a:gdLst/>
            <a:ahLst/>
            <a:cxnLst/>
            <a:rect r="r" b="b" t="t" l="l"/>
            <a:pathLst>
              <a:path h="1127315" w="1127315">
                <a:moveTo>
                  <a:pt x="0" y="0"/>
                </a:moveTo>
                <a:lnTo>
                  <a:pt x="1127315" y="0"/>
                </a:lnTo>
                <a:lnTo>
                  <a:pt x="1127315" y="1127314"/>
                </a:lnTo>
                <a:lnTo>
                  <a:pt x="0" y="11273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DAHItkRtliQ</dc:identifier>
  <dcterms:modified xsi:type="dcterms:W3CDTF">2011-08-01T06:04:30Z</dcterms:modified>
  <cp:revision>1</cp:revision>
  <dc:title>ReIKarts_Pitch_Deck.pptx</dc:title>
</cp:coreProperties>
</file>