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Georgia Bold" charset="1" panose="0204080205040502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1943" y="-220725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2D6A4F">
                <a:alpha val="2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2103" y="45593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52B788">
                <a:alpha val="1215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52B788">
                <a:alpha val="1215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841497" y="6388103"/>
            <a:ext cx="6426203" cy="6426203"/>
            <a:chOff x="0" y="0"/>
            <a:chExt cx="8568271" cy="856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2D6A4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2D6A4F">
                <a:alpha val="1568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8255" y="7932074"/>
            <a:ext cx="15430500" cy="236649"/>
            <a:chOff x="0" y="0"/>
            <a:chExt cx="8568271" cy="1314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8534400" cy="97536"/>
            </a:xfrm>
            <a:custGeom>
              <a:avLst/>
              <a:gdLst/>
              <a:ahLst/>
              <a:cxnLst/>
              <a:rect r="r" b="b" t="t" l="l"/>
              <a:pathLst>
                <a:path h="975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68182" cy="131320"/>
            </a:xfrm>
            <a:custGeom>
              <a:avLst/>
              <a:gdLst/>
              <a:ahLst/>
              <a:cxnLst/>
              <a:rect r="r" b="b" t="t" l="l"/>
              <a:pathLst>
                <a:path h="13132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6367" y="8063949"/>
            <a:ext cx="16095266" cy="1537256"/>
            <a:chOff x="0" y="0"/>
            <a:chExt cx="19507200" cy="1863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1863129"/>
            </a:xfrm>
            <a:custGeom>
              <a:avLst/>
              <a:gdLst/>
              <a:ahLst/>
              <a:cxnLst/>
              <a:rect r="r" b="b" t="t" l="l"/>
              <a:pathLst>
                <a:path h="1863129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63129"/>
                  </a:lnTo>
                  <a:lnTo>
                    <a:pt x="0" y="18631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563" r="0" b="-1334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9507200" cy="1948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Household food waste → Biogas plant → Cylinder gas → Homes &amp; Businesses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2697" y="9314183"/>
            <a:ext cx="18313403" cy="985523"/>
            <a:chOff x="0" y="0"/>
            <a:chExt cx="24417871" cy="1314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438399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17782" cy="1313942"/>
            </a:xfrm>
            <a:custGeom>
              <a:avLst/>
              <a:gdLst/>
              <a:ahLst/>
              <a:cxnLst/>
              <a:rect r="r" b="b" t="t" l="l"/>
              <a:pathLst>
                <a:path h="13139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297051"/>
                  </a:lnTo>
                  <a:cubicBezTo>
                    <a:pt x="24417782" y="1306449"/>
                    <a:pt x="24410163" y="1313942"/>
                    <a:pt x="24400890" y="1313942"/>
                  </a:cubicBezTo>
                  <a:lnTo>
                    <a:pt x="16891" y="1313942"/>
                  </a:lnTo>
                  <a:cubicBezTo>
                    <a:pt x="7493" y="1313942"/>
                    <a:pt x="0" y="1306322"/>
                    <a:pt x="0" y="1297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97051"/>
                  </a:lnTo>
                  <a:lnTo>
                    <a:pt x="16891" y="1297051"/>
                  </a:lnTo>
                  <a:lnTo>
                    <a:pt x="16891" y="1280160"/>
                  </a:lnTo>
                  <a:lnTo>
                    <a:pt x="24400890" y="1280160"/>
                  </a:lnTo>
                  <a:lnTo>
                    <a:pt x="24400890" y="1297051"/>
                  </a:lnTo>
                  <a:lnTo>
                    <a:pt x="24384000" y="12970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326880"/>
            <a:ext cx="17190720" cy="960120"/>
            <a:chOff x="0" y="0"/>
            <a:chExt cx="229209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74" r="0" b="-2988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9209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📍 Bangladesh  |  Waste-to-Energy Solution  |  Circular Economy  |  SDG 7 &amp; SDG 11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910560" y="914400"/>
            <a:ext cx="1828800" cy="1828800"/>
            <a:chOff x="0" y="0"/>
            <a:chExt cx="2438400" cy="24384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766245" y="175553"/>
            <a:ext cx="12755509" cy="5936325"/>
          </a:xfrm>
          <a:custGeom>
            <a:avLst/>
            <a:gdLst/>
            <a:ahLst/>
            <a:cxnLst/>
            <a:rect r="r" b="b" t="t" l="l"/>
            <a:pathLst>
              <a:path h="5936325" w="12755509">
                <a:moveTo>
                  <a:pt x="0" y="0"/>
                </a:moveTo>
                <a:lnTo>
                  <a:pt x="12755510" y="0"/>
                </a:lnTo>
                <a:lnTo>
                  <a:pt x="12755510" y="5936325"/>
                </a:lnTo>
                <a:lnTo>
                  <a:pt x="0" y="593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102" r="0" b="-90769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60122" y="6526676"/>
            <a:ext cx="1636775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b="true" sz="5700">
                <a:solidFill>
                  <a:srgbClr val="8BB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Turning Food Waste into Clean Energy for Bangladesh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9144000" cy="1828800"/>
            <a:chOff x="0" y="0"/>
            <a:chExt cx="121920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1920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0" y="0"/>
            <a:ext cx="10972800" cy="1828800"/>
            <a:chOff x="0" y="0"/>
            <a:chExt cx="146304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63040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5D5B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Bangladesh's Waste &amp; Energy Crisis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3727" y="2188207"/>
            <a:ext cx="3853177" cy="5133337"/>
            <a:chOff x="0" y="0"/>
            <a:chExt cx="5137569" cy="6844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5120640" cy="6827519"/>
            </a:xfrm>
            <a:custGeom>
              <a:avLst/>
              <a:gdLst/>
              <a:ahLst/>
              <a:cxnLst/>
              <a:rect r="r" b="b" t="t" l="l"/>
              <a:pathLst>
                <a:path h="682751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37658" cy="6844538"/>
            </a:xfrm>
            <a:custGeom>
              <a:avLst/>
              <a:gdLst/>
              <a:ahLst/>
              <a:cxnLst/>
              <a:rect r="r" b="b" t="t" l="l"/>
              <a:pathLst>
                <a:path h="68445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6836028"/>
                  </a:lnTo>
                  <a:cubicBezTo>
                    <a:pt x="5137658" y="6840727"/>
                    <a:pt x="5133848" y="6844538"/>
                    <a:pt x="512914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5129149" y="6827520"/>
                  </a:lnTo>
                  <a:lnTo>
                    <a:pt x="5129149" y="6836028"/>
                  </a:lnTo>
                  <a:lnTo>
                    <a:pt x="5120640" y="6836028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181863"/>
            <a:ext cx="3865883" cy="610619"/>
            <a:chOff x="0" y="0"/>
            <a:chExt cx="5154511" cy="8141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6394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54422" cy="814072"/>
            </a:xfrm>
            <a:custGeom>
              <a:avLst/>
              <a:gdLst/>
              <a:ahLst/>
              <a:cxnLst/>
              <a:rect r="r" b="b" t="t" l="l"/>
              <a:pathLst>
                <a:path h="81407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797179"/>
                  </a:lnTo>
                  <a:cubicBezTo>
                    <a:pt x="5154422" y="806577"/>
                    <a:pt x="5146802" y="814070"/>
                    <a:pt x="51375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137531" y="780288"/>
                  </a:lnTo>
                  <a:lnTo>
                    <a:pt x="5137531" y="797179"/>
                  </a:lnTo>
                  <a:lnTo>
                    <a:pt x="5120640" y="79717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394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3120" y="2834640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3840480"/>
            <a:ext cx="3840480" cy="1316736"/>
            <a:chOff x="0" y="0"/>
            <a:chExt cx="5120640" cy="1755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5120640" cy="18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E639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15,000+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" y="5157216"/>
            <a:ext cx="3840480" cy="1645920"/>
            <a:chOff x="0" y="0"/>
            <a:chExt cx="512064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1206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Tonnes of solid waste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generated daily in BD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13119" y="2188207"/>
            <a:ext cx="3853177" cy="5133337"/>
            <a:chOff x="0" y="0"/>
            <a:chExt cx="5137569" cy="68444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509" y="8509"/>
              <a:ext cx="5120640" cy="6827519"/>
            </a:xfrm>
            <a:custGeom>
              <a:avLst/>
              <a:gdLst/>
              <a:ahLst/>
              <a:cxnLst/>
              <a:rect r="r" b="b" t="t" l="l"/>
              <a:pathLst>
                <a:path h="682751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37658" cy="6844538"/>
            </a:xfrm>
            <a:custGeom>
              <a:avLst/>
              <a:gdLst/>
              <a:ahLst/>
              <a:cxnLst/>
              <a:rect r="r" b="b" t="t" l="l"/>
              <a:pathLst>
                <a:path h="68445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6836028"/>
                  </a:lnTo>
                  <a:cubicBezTo>
                    <a:pt x="5137658" y="6840727"/>
                    <a:pt x="5133848" y="6844538"/>
                    <a:pt x="512914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5129149" y="6827520"/>
                  </a:lnTo>
                  <a:lnTo>
                    <a:pt x="5129149" y="6836028"/>
                  </a:lnTo>
                  <a:lnTo>
                    <a:pt x="5120640" y="6836028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06775" y="2181863"/>
            <a:ext cx="3865883" cy="610619"/>
            <a:chOff x="0" y="0"/>
            <a:chExt cx="5154511" cy="8141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4422" cy="814072"/>
            </a:xfrm>
            <a:custGeom>
              <a:avLst/>
              <a:gdLst/>
              <a:ahLst/>
              <a:cxnLst/>
              <a:rect r="r" b="b" t="t" l="l"/>
              <a:pathLst>
                <a:path h="81407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797179"/>
                  </a:lnTo>
                  <a:cubicBezTo>
                    <a:pt x="5154422" y="806577"/>
                    <a:pt x="5146802" y="814070"/>
                    <a:pt x="51375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137531" y="780288"/>
                  </a:lnTo>
                  <a:lnTo>
                    <a:pt x="5137531" y="797179"/>
                  </a:lnTo>
                  <a:lnTo>
                    <a:pt x="5120640" y="79717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82512" y="2834640"/>
            <a:ext cx="914400" cy="914400"/>
            <a:chOff x="0" y="0"/>
            <a:chExt cx="1219200" cy="12192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919472" y="3840480"/>
            <a:ext cx="3840480" cy="1316736"/>
            <a:chOff x="0" y="0"/>
            <a:chExt cx="5120640" cy="17556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5120640" cy="18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60-70%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19472" y="5157216"/>
            <a:ext cx="3840480" cy="1645920"/>
            <a:chOff x="0" y="0"/>
            <a:chExt cx="5120640" cy="2194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1206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 is organic /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food-based material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92511" y="2188207"/>
            <a:ext cx="3853177" cy="5133337"/>
            <a:chOff x="0" y="0"/>
            <a:chExt cx="5137569" cy="68444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8509"/>
              <a:ext cx="5120640" cy="6827519"/>
            </a:xfrm>
            <a:custGeom>
              <a:avLst/>
              <a:gdLst/>
              <a:ahLst/>
              <a:cxnLst/>
              <a:rect r="r" b="b" t="t" l="l"/>
              <a:pathLst>
                <a:path h="682751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37658" cy="6844538"/>
            </a:xfrm>
            <a:custGeom>
              <a:avLst/>
              <a:gdLst/>
              <a:ahLst/>
              <a:cxnLst/>
              <a:rect r="r" b="b" t="t" l="l"/>
              <a:pathLst>
                <a:path h="68445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6836028"/>
                  </a:lnTo>
                  <a:cubicBezTo>
                    <a:pt x="5137658" y="6840727"/>
                    <a:pt x="5133848" y="6844538"/>
                    <a:pt x="512914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5129149" y="6827520"/>
                  </a:lnTo>
                  <a:lnTo>
                    <a:pt x="5129149" y="6836028"/>
                  </a:lnTo>
                  <a:lnTo>
                    <a:pt x="5120640" y="6836028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86167" y="2181863"/>
            <a:ext cx="3865883" cy="610619"/>
            <a:chOff x="0" y="0"/>
            <a:chExt cx="5154511" cy="8141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54422" cy="814072"/>
            </a:xfrm>
            <a:custGeom>
              <a:avLst/>
              <a:gdLst/>
              <a:ahLst/>
              <a:cxnLst/>
              <a:rect r="r" b="b" t="t" l="l"/>
              <a:pathLst>
                <a:path h="81407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797179"/>
                  </a:lnTo>
                  <a:cubicBezTo>
                    <a:pt x="5154422" y="806577"/>
                    <a:pt x="5146802" y="814070"/>
                    <a:pt x="51375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137531" y="780288"/>
                  </a:lnTo>
                  <a:lnTo>
                    <a:pt x="5137531" y="797179"/>
                  </a:lnTo>
                  <a:lnTo>
                    <a:pt x="5120640" y="79717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661904" y="2834640"/>
            <a:ext cx="914400" cy="914400"/>
            <a:chOff x="0" y="0"/>
            <a:chExt cx="1219200" cy="12192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98864" y="3840480"/>
            <a:ext cx="3840480" cy="1316736"/>
            <a:chOff x="0" y="0"/>
            <a:chExt cx="5120640" cy="17556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5120640" cy="18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98864" y="5157216"/>
            <a:ext cx="3840480" cy="1645920"/>
            <a:chOff x="0" y="0"/>
            <a:chExt cx="512064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1206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 households use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cylinder LPG for cooking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71903" y="2188207"/>
            <a:ext cx="3853177" cy="5133337"/>
            <a:chOff x="0" y="0"/>
            <a:chExt cx="5137569" cy="68444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5120640" cy="6827519"/>
            </a:xfrm>
            <a:custGeom>
              <a:avLst/>
              <a:gdLst/>
              <a:ahLst/>
              <a:cxnLst/>
              <a:rect r="r" b="b" t="t" l="l"/>
              <a:pathLst>
                <a:path h="682751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37658" cy="6844538"/>
            </a:xfrm>
            <a:custGeom>
              <a:avLst/>
              <a:gdLst/>
              <a:ahLst/>
              <a:cxnLst/>
              <a:rect r="r" b="b" t="t" l="l"/>
              <a:pathLst>
                <a:path h="68445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6836028"/>
                  </a:lnTo>
                  <a:cubicBezTo>
                    <a:pt x="5137658" y="6840727"/>
                    <a:pt x="5133848" y="6844538"/>
                    <a:pt x="512914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5129149" y="6827520"/>
                  </a:lnTo>
                  <a:lnTo>
                    <a:pt x="5129149" y="6836028"/>
                  </a:lnTo>
                  <a:lnTo>
                    <a:pt x="5120640" y="6836028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465559" y="2181863"/>
            <a:ext cx="3865883" cy="610619"/>
            <a:chOff x="0" y="0"/>
            <a:chExt cx="515451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422" cy="814072"/>
            </a:xfrm>
            <a:custGeom>
              <a:avLst/>
              <a:gdLst/>
              <a:ahLst/>
              <a:cxnLst/>
              <a:rect r="r" b="b" t="t" l="l"/>
              <a:pathLst>
                <a:path h="81407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797179"/>
                  </a:lnTo>
                  <a:cubicBezTo>
                    <a:pt x="5154422" y="806577"/>
                    <a:pt x="5146802" y="814070"/>
                    <a:pt x="51375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137531" y="780288"/>
                  </a:lnTo>
                  <a:lnTo>
                    <a:pt x="5137531" y="797179"/>
                  </a:lnTo>
                  <a:lnTo>
                    <a:pt x="5120640" y="79717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941296" y="2834640"/>
            <a:ext cx="914400" cy="914400"/>
            <a:chOff x="0" y="0"/>
            <a:chExt cx="1219200" cy="121920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478256" y="3840480"/>
            <a:ext cx="3840480" cy="1316736"/>
            <a:chOff x="0" y="0"/>
            <a:chExt cx="5120640" cy="1755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23825"/>
              <a:ext cx="5120640" cy="18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~60M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478256" y="5157216"/>
            <a:ext cx="3840480" cy="1645920"/>
            <a:chOff x="0" y="0"/>
            <a:chExt cx="512064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1206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People lack access to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cooking fuel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27383" y="7668263"/>
            <a:ext cx="17033243" cy="1671323"/>
            <a:chOff x="0" y="0"/>
            <a:chExt cx="22710991" cy="22284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2267711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71090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211451"/>
                  </a:lnTo>
                  <a:cubicBezTo>
                    <a:pt x="22710902" y="2220849"/>
                    <a:pt x="22703282" y="2228342"/>
                    <a:pt x="22694010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22694010" y="2194560"/>
                  </a:lnTo>
                  <a:lnTo>
                    <a:pt x="22694010" y="2211451"/>
                  </a:lnTo>
                  <a:lnTo>
                    <a:pt x="22677120" y="221145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14400" y="7680960"/>
            <a:ext cx="16642080" cy="1645920"/>
            <a:chOff x="0" y="0"/>
            <a:chExt cx="22189440" cy="2194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1894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218944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 Dhaka alone generates ~4,500 tonnes/day of waste — yet millions cannot afford clean cooking gas. This gap is our opportunity.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8903" y="1998983"/>
            <a:ext cx="1854203" cy="1854203"/>
            <a:chOff x="0" y="0"/>
            <a:chExt cx="2472271" cy="2472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011680"/>
            <a:ext cx="1828800" cy="1828800"/>
            <a:chOff x="0" y="0"/>
            <a:chExt cx="243840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4384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70583" y="2821943"/>
            <a:ext cx="665483" cy="208283"/>
            <a:chOff x="0" y="0"/>
            <a:chExt cx="887311" cy="277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53440" cy="243840"/>
            </a:xfrm>
            <a:custGeom>
              <a:avLst/>
              <a:gdLst/>
              <a:ahLst/>
              <a:cxnLst/>
              <a:rect r="r" b="b" t="t" l="l"/>
              <a:pathLst>
                <a:path h="2438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7222" cy="277624"/>
            </a:xfrm>
            <a:custGeom>
              <a:avLst/>
              <a:gdLst/>
              <a:ahLst/>
              <a:cxnLst/>
              <a:rect r="r" b="b" t="t" l="l"/>
              <a:pathLst>
                <a:path h="277624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260731"/>
                  </a:lnTo>
                  <a:cubicBezTo>
                    <a:pt x="887222" y="270129"/>
                    <a:pt x="879602" y="277622"/>
                    <a:pt x="8703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870331" y="243840"/>
                  </a:lnTo>
                  <a:lnTo>
                    <a:pt x="870331" y="260731"/>
                  </a:lnTo>
                  <a:lnTo>
                    <a:pt x="853440" y="260731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8477" y="4104637"/>
            <a:ext cx="3220717" cy="5140957"/>
            <a:chOff x="0" y="0"/>
            <a:chExt cx="4294289" cy="68546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3589" y="13589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4378" cy="6854698"/>
            </a:xfrm>
            <a:custGeom>
              <a:avLst/>
              <a:gdLst/>
              <a:ahLst/>
              <a:cxnLst/>
              <a:rect r="r" b="b" t="t" l="l"/>
              <a:pathLst>
                <a:path h="6854698" w="4294378">
                  <a:moveTo>
                    <a:pt x="13589" y="0"/>
                  </a:moveTo>
                  <a:lnTo>
                    <a:pt x="4280789" y="0"/>
                  </a:lnTo>
                  <a:cubicBezTo>
                    <a:pt x="4288282" y="0"/>
                    <a:pt x="4294378" y="6096"/>
                    <a:pt x="4294378" y="13589"/>
                  </a:cubicBezTo>
                  <a:lnTo>
                    <a:pt x="4294378" y="6841109"/>
                  </a:lnTo>
                  <a:cubicBezTo>
                    <a:pt x="4294378" y="6848601"/>
                    <a:pt x="4288282" y="6854698"/>
                    <a:pt x="4280789" y="6854698"/>
                  </a:cubicBezTo>
                  <a:lnTo>
                    <a:pt x="13589" y="6854698"/>
                  </a:lnTo>
                  <a:cubicBezTo>
                    <a:pt x="6096" y="6854698"/>
                    <a:pt x="0" y="6848601"/>
                    <a:pt x="0" y="6841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841109"/>
                  </a:lnTo>
                  <a:lnTo>
                    <a:pt x="13589" y="6841109"/>
                  </a:lnTo>
                  <a:lnTo>
                    <a:pt x="13589" y="6827520"/>
                  </a:lnTo>
                  <a:lnTo>
                    <a:pt x="4280789" y="6827520"/>
                  </a:lnTo>
                  <a:lnTo>
                    <a:pt x="4280789" y="6841109"/>
                  </a:lnTo>
                  <a:lnTo>
                    <a:pt x="4267200" y="6841109"/>
                  </a:lnTo>
                  <a:lnTo>
                    <a:pt x="4267200" y="13589"/>
                  </a:lnTo>
                  <a:lnTo>
                    <a:pt x="4280789" y="13589"/>
                  </a:lnTo>
                  <a:lnTo>
                    <a:pt x="4280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09344" y="4297680"/>
            <a:ext cx="1005840" cy="1005840"/>
            <a:chOff x="0" y="0"/>
            <a:chExt cx="1341120" cy="134112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5486400"/>
            <a:ext cx="3200400" cy="731520"/>
            <a:chOff x="0" y="0"/>
            <a:chExt cx="42672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26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6217920"/>
            <a:ext cx="3200400" cy="2834640"/>
            <a:chOff x="0" y="0"/>
            <a:chExt cx="4267200" cy="3779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67200" cy="381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Household food waste collection via dedicated bins &amp; daily pickup routes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33623" y="1998983"/>
            <a:ext cx="1854203" cy="1854203"/>
            <a:chOff x="0" y="0"/>
            <a:chExt cx="2472271" cy="24722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46320" y="2011680"/>
            <a:ext cx="1828800" cy="1828800"/>
            <a:chOff x="0" y="0"/>
            <a:chExt cx="2438400" cy="243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4384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45303" y="2821943"/>
            <a:ext cx="665483" cy="208283"/>
            <a:chOff x="0" y="0"/>
            <a:chExt cx="887311" cy="2777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853440" cy="243840"/>
            </a:xfrm>
            <a:custGeom>
              <a:avLst/>
              <a:gdLst/>
              <a:ahLst/>
              <a:cxnLst/>
              <a:rect r="r" b="b" t="t" l="l"/>
              <a:pathLst>
                <a:path h="2438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7222" cy="277624"/>
            </a:xfrm>
            <a:custGeom>
              <a:avLst/>
              <a:gdLst/>
              <a:ahLst/>
              <a:cxnLst/>
              <a:rect r="r" b="b" t="t" l="l"/>
              <a:pathLst>
                <a:path h="277624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260731"/>
                  </a:lnTo>
                  <a:cubicBezTo>
                    <a:pt x="887222" y="270129"/>
                    <a:pt x="879602" y="277622"/>
                    <a:pt x="8703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870331" y="243840"/>
                  </a:lnTo>
                  <a:lnTo>
                    <a:pt x="870331" y="260731"/>
                  </a:lnTo>
                  <a:lnTo>
                    <a:pt x="853440" y="260731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013197" y="4104637"/>
            <a:ext cx="3220717" cy="5140957"/>
            <a:chOff x="0" y="0"/>
            <a:chExt cx="4294289" cy="68546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3589" y="13589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94378" cy="6854698"/>
            </a:xfrm>
            <a:custGeom>
              <a:avLst/>
              <a:gdLst/>
              <a:ahLst/>
              <a:cxnLst/>
              <a:rect r="r" b="b" t="t" l="l"/>
              <a:pathLst>
                <a:path h="6854698" w="4294378">
                  <a:moveTo>
                    <a:pt x="13589" y="0"/>
                  </a:moveTo>
                  <a:lnTo>
                    <a:pt x="4280789" y="0"/>
                  </a:lnTo>
                  <a:cubicBezTo>
                    <a:pt x="4288282" y="0"/>
                    <a:pt x="4294378" y="6096"/>
                    <a:pt x="4294378" y="13589"/>
                  </a:cubicBezTo>
                  <a:lnTo>
                    <a:pt x="4294378" y="6841109"/>
                  </a:lnTo>
                  <a:cubicBezTo>
                    <a:pt x="4294378" y="6848601"/>
                    <a:pt x="4288282" y="6854698"/>
                    <a:pt x="4280789" y="6854698"/>
                  </a:cubicBezTo>
                  <a:lnTo>
                    <a:pt x="13589" y="6854698"/>
                  </a:lnTo>
                  <a:cubicBezTo>
                    <a:pt x="6096" y="6854698"/>
                    <a:pt x="0" y="6848601"/>
                    <a:pt x="0" y="6841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841109"/>
                  </a:lnTo>
                  <a:lnTo>
                    <a:pt x="13589" y="6841109"/>
                  </a:lnTo>
                  <a:lnTo>
                    <a:pt x="13589" y="6827520"/>
                  </a:lnTo>
                  <a:lnTo>
                    <a:pt x="4280789" y="6827520"/>
                  </a:lnTo>
                  <a:lnTo>
                    <a:pt x="4280789" y="6841109"/>
                  </a:lnTo>
                  <a:lnTo>
                    <a:pt x="4267200" y="6841109"/>
                  </a:lnTo>
                  <a:lnTo>
                    <a:pt x="4267200" y="13589"/>
                  </a:lnTo>
                  <a:lnTo>
                    <a:pt x="4280789" y="13589"/>
                  </a:lnTo>
                  <a:lnTo>
                    <a:pt x="4280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084064" y="4297680"/>
            <a:ext cx="1005840" cy="1005840"/>
            <a:chOff x="0" y="0"/>
            <a:chExt cx="1341120" cy="134112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023360" y="5486400"/>
            <a:ext cx="3200400" cy="731520"/>
            <a:chOff x="0" y="0"/>
            <a:chExt cx="426720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26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023360" y="6217920"/>
            <a:ext cx="3200400" cy="2834640"/>
            <a:chOff x="0" y="0"/>
            <a:chExt cx="4267200" cy="3779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267200" cy="381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Anaerobic digestion in biogas plant converts organic matter to methane gas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308343" y="1998983"/>
            <a:ext cx="1854203" cy="1854203"/>
            <a:chOff x="0" y="0"/>
            <a:chExt cx="2472271" cy="2472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321040" y="2011680"/>
            <a:ext cx="1828800" cy="1828800"/>
            <a:chOff x="0" y="0"/>
            <a:chExt cx="2438400" cy="2438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24384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320023" y="2821943"/>
            <a:ext cx="665483" cy="208283"/>
            <a:chOff x="0" y="0"/>
            <a:chExt cx="887311" cy="2777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853440" cy="243840"/>
            </a:xfrm>
            <a:custGeom>
              <a:avLst/>
              <a:gdLst/>
              <a:ahLst/>
              <a:cxnLst/>
              <a:rect r="r" b="b" t="t" l="l"/>
              <a:pathLst>
                <a:path h="2438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7222" cy="277624"/>
            </a:xfrm>
            <a:custGeom>
              <a:avLst/>
              <a:gdLst/>
              <a:ahLst/>
              <a:cxnLst/>
              <a:rect r="r" b="b" t="t" l="l"/>
              <a:pathLst>
                <a:path h="277624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260731"/>
                  </a:lnTo>
                  <a:cubicBezTo>
                    <a:pt x="887222" y="270129"/>
                    <a:pt x="879602" y="277622"/>
                    <a:pt x="8703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870331" y="243840"/>
                  </a:lnTo>
                  <a:lnTo>
                    <a:pt x="870331" y="260731"/>
                  </a:lnTo>
                  <a:lnTo>
                    <a:pt x="853440" y="260731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487917" y="4104637"/>
            <a:ext cx="3220717" cy="5140957"/>
            <a:chOff x="0" y="0"/>
            <a:chExt cx="4294289" cy="68546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3589" y="13589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94378" cy="6854698"/>
            </a:xfrm>
            <a:custGeom>
              <a:avLst/>
              <a:gdLst/>
              <a:ahLst/>
              <a:cxnLst/>
              <a:rect r="r" b="b" t="t" l="l"/>
              <a:pathLst>
                <a:path h="6854698" w="4294378">
                  <a:moveTo>
                    <a:pt x="13589" y="0"/>
                  </a:moveTo>
                  <a:lnTo>
                    <a:pt x="4280789" y="0"/>
                  </a:lnTo>
                  <a:cubicBezTo>
                    <a:pt x="4288282" y="0"/>
                    <a:pt x="4294378" y="6096"/>
                    <a:pt x="4294378" y="13589"/>
                  </a:cubicBezTo>
                  <a:lnTo>
                    <a:pt x="4294378" y="6841109"/>
                  </a:lnTo>
                  <a:cubicBezTo>
                    <a:pt x="4294378" y="6848601"/>
                    <a:pt x="4288282" y="6854698"/>
                    <a:pt x="4280789" y="6854698"/>
                  </a:cubicBezTo>
                  <a:lnTo>
                    <a:pt x="13589" y="6854698"/>
                  </a:lnTo>
                  <a:cubicBezTo>
                    <a:pt x="6096" y="6854698"/>
                    <a:pt x="0" y="6848601"/>
                    <a:pt x="0" y="6841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841109"/>
                  </a:lnTo>
                  <a:lnTo>
                    <a:pt x="13589" y="6841109"/>
                  </a:lnTo>
                  <a:lnTo>
                    <a:pt x="13589" y="6827520"/>
                  </a:lnTo>
                  <a:lnTo>
                    <a:pt x="4280789" y="6827520"/>
                  </a:lnTo>
                  <a:lnTo>
                    <a:pt x="4280789" y="6841109"/>
                  </a:lnTo>
                  <a:lnTo>
                    <a:pt x="4267200" y="6841109"/>
                  </a:lnTo>
                  <a:lnTo>
                    <a:pt x="4267200" y="13589"/>
                  </a:lnTo>
                  <a:lnTo>
                    <a:pt x="4280789" y="13589"/>
                  </a:lnTo>
                  <a:lnTo>
                    <a:pt x="4280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558784" y="4297680"/>
            <a:ext cx="1005840" cy="1005840"/>
            <a:chOff x="0" y="0"/>
            <a:chExt cx="1341120" cy="134112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498080" y="5486400"/>
            <a:ext cx="3200400" cy="731520"/>
            <a:chOff x="0" y="0"/>
            <a:chExt cx="426720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426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Purify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98080" y="6217920"/>
            <a:ext cx="3200400" cy="2834640"/>
            <a:chOff x="0" y="0"/>
            <a:chExt cx="4267200" cy="3779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67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267200" cy="381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 purification system removes CO₂, H₂S and moisture to cooking-grade purity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783063" y="1998983"/>
            <a:ext cx="1854203" cy="1854203"/>
            <a:chOff x="0" y="0"/>
            <a:chExt cx="2472271" cy="24722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795760" y="2011680"/>
            <a:ext cx="1828800" cy="1828800"/>
            <a:chOff x="0" y="0"/>
            <a:chExt cx="2438400" cy="2438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24384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94743" y="2821943"/>
            <a:ext cx="665483" cy="208283"/>
            <a:chOff x="0" y="0"/>
            <a:chExt cx="88731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853440" cy="243840"/>
            </a:xfrm>
            <a:custGeom>
              <a:avLst/>
              <a:gdLst/>
              <a:ahLst/>
              <a:cxnLst/>
              <a:rect r="r" b="b" t="t" l="l"/>
              <a:pathLst>
                <a:path h="2438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87222" cy="277624"/>
            </a:xfrm>
            <a:custGeom>
              <a:avLst/>
              <a:gdLst/>
              <a:ahLst/>
              <a:cxnLst/>
              <a:rect r="r" b="b" t="t" l="l"/>
              <a:pathLst>
                <a:path h="277624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260731"/>
                  </a:lnTo>
                  <a:cubicBezTo>
                    <a:pt x="887222" y="270129"/>
                    <a:pt x="879602" y="277622"/>
                    <a:pt x="8703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870331" y="243840"/>
                  </a:lnTo>
                  <a:lnTo>
                    <a:pt x="870331" y="260731"/>
                  </a:lnTo>
                  <a:lnTo>
                    <a:pt x="853440" y="260731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962637" y="4104637"/>
            <a:ext cx="3220717" cy="5140957"/>
            <a:chOff x="0" y="0"/>
            <a:chExt cx="4294289" cy="68546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3589" y="13589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94378" cy="6854698"/>
            </a:xfrm>
            <a:custGeom>
              <a:avLst/>
              <a:gdLst/>
              <a:ahLst/>
              <a:cxnLst/>
              <a:rect r="r" b="b" t="t" l="l"/>
              <a:pathLst>
                <a:path h="6854698" w="4294378">
                  <a:moveTo>
                    <a:pt x="13589" y="0"/>
                  </a:moveTo>
                  <a:lnTo>
                    <a:pt x="4280789" y="0"/>
                  </a:lnTo>
                  <a:cubicBezTo>
                    <a:pt x="4288282" y="0"/>
                    <a:pt x="4294378" y="6096"/>
                    <a:pt x="4294378" y="13589"/>
                  </a:cubicBezTo>
                  <a:lnTo>
                    <a:pt x="4294378" y="6841109"/>
                  </a:lnTo>
                  <a:cubicBezTo>
                    <a:pt x="4294378" y="6848601"/>
                    <a:pt x="4288282" y="6854698"/>
                    <a:pt x="4280789" y="6854698"/>
                  </a:cubicBezTo>
                  <a:lnTo>
                    <a:pt x="13589" y="6854698"/>
                  </a:lnTo>
                  <a:cubicBezTo>
                    <a:pt x="6096" y="6854698"/>
                    <a:pt x="0" y="6848601"/>
                    <a:pt x="0" y="6841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841109"/>
                  </a:lnTo>
                  <a:lnTo>
                    <a:pt x="13589" y="6841109"/>
                  </a:lnTo>
                  <a:lnTo>
                    <a:pt x="13589" y="6827520"/>
                  </a:lnTo>
                  <a:lnTo>
                    <a:pt x="4280789" y="6827520"/>
                  </a:lnTo>
                  <a:lnTo>
                    <a:pt x="4280789" y="6841109"/>
                  </a:lnTo>
                  <a:lnTo>
                    <a:pt x="4267200" y="6841109"/>
                  </a:lnTo>
                  <a:lnTo>
                    <a:pt x="4267200" y="13589"/>
                  </a:lnTo>
                  <a:lnTo>
                    <a:pt x="4280789" y="13589"/>
                  </a:lnTo>
                  <a:lnTo>
                    <a:pt x="4280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033504" y="4297680"/>
            <a:ext cx="1005840" cy="1005840"/>
            <a:chOff x="0" y="0"/>
            <a:chExt cx="1341120" cy="134112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972800" y="5486400"/>
            <a:ext cx="3200400" cy="731520"/>
            <a:chOff x="0" y="0"/>
            <a:chExt cx="426720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426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972800" y="6217920"/>
            <a:ext cx="3200400" cy="2834640"/>
            <a:chOff x="0" y="0"/>
            <a:chExt cx="4267200" cy="3779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267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267200" cy="381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Compressed into standard LPG-compatible cylinders (12kg &amp; 35kg)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257783" y="1998983"/>
            <a:ext cx="1854203" cy="1854203"/>
            <a:chOff x="0" y="0"/>
            <a:chExt cx="2472271" cy="247227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270480" y="2011680"/>
            <a:ext cx="1828800" cy="1828800"/>
            <a:chOff x="0" y="0"/>
            <a:chExt cx="2438400" cy="2438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66675"/>
              <a:ext cx="24384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437357" y="4104637"/>
            <a:ext cx="3220717" cy="5140957"/>
            <a:chOff x="0" y="0"/>
            <a:chExt cx="4294289" cy="685460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3589" y="13589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294378" cy="6854698"/>
            </a:xfrm>
            <a:custGeom>
              <a:avLst/>
              <a:gdLst/>
              <a:ahLst/>
              <a:cxnLst/>
              <a:rect r="r" b="b" t="t" l="l"/>
              <a:pathLst>
                <a:path h="6854698" w="4294378">
                  <a:moveTo>
                    <a:pt x="13589" y="0"/>
                  </a:moveTo>
                  <a:lnTo>
                    <a:pt x="4280789" y="0"/>
                  </a:lnTo>
                  <a:cubicBezTo>
                    <a:pt x="4288282" y="0"/>
                    <a:pt x="4294378" y="6096"/>
                    <a:pt x="4294378" y="13589"/>
                  </a:cubicBezTo>
                  <a:lnTo>
                    <a:pt x="4294378" y="6841109"/>
                  </a:lnTo>
                  <a:cubicBezTo>
                    <a:pt x="4294378" y="6848601"/>
                    <a:pt x="4288282" y="6854698"/>
                    <a:pt x="4280789" y="6854698"/>
                  </a:cubicBezTo>
                  <a:lnTo>
                    <a:pt x="13589" y="6854698"/>
                  </a:lnTo>
                  <a:cubicBezTo>
                    <a:pt x="6096" y="6854698"/>
                    <a:pt x="0" y="6848601"/>
                    <a:pt x="0" y="68411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6841109"/>
                  </a:lnTo>
                  <a:lnTo>
                    <a:pt x="13589" y="6841109"/>
                  </a:lnTo>
                  <a:lnTo>
                    <a:pt x="13589" y="6827520"/>
                  </a:lnTo>
                  <a:lnTo>
                    <a:pt x="4280789" y="6827520"/>
                  </a:lnTo>
                  <a:lnTo>
                    <a:pt x="4280789" y="6841109"/>
                  </a:lnTo>
                  <a:lnTo>
                    <a:pt x="4267200" y="6841109"/>
                  </a:lnTo>
                  <a:lnTo>
                    <a:pt x="4267200" y="13589"/>
                  </a:lnTo>
                  <a:lnTo>
                    <a:pt x="4280789" y="13589"/>
                  </a:lnTo>
                  <a:lnTo>
                    <a:pt x="4280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508224" y="4297680"/>
            <a:ext cx="1005840" cy="1005840"/>
            <a:chOff x="0" y="0"/>
            <a:chExt cx="1341120" cy="1341120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447520" y="5486400"/>
            <a:ext cx="3200400" cy="731520"/>
            <a:chOff x="0" y="0"/>
            <a:chExt cx="4267200" cy="9753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426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447520" y="6217920"/>
            <a:ext cx="3200400" cy="2834640"/>
            <a:chOff x="0" y="0"/>
            <a:chExt cx="4267200" cy="3779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67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267200" cy="381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Distribute to homes, restaurants &amp; industries via dealer network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MARKET OPPORTUNITY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3727" y="2096767"/>
            <a:ext cx="9705337" cy="1292857"/>
            <a:chOff x="0" y="0"/>
            <a:chExt cx="12940449" cy="17238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129235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405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1715389"/>
                  </a:lnTo>
                  <a:cubicBezTo>
                    <a:pt x="12940538" y="1720088"/>
                    <a:pt x="12936727" y="1723898"/>
                    <a:pt x="129320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2932028" y="1706880"/>
                  </a:lnTo>
                  <a:lnTo>
                    <a:pt x="12932028" y="1715389"/>
                  </a:lnTo>
                  <a:lnTo>
                    <a:pt x="12923520" y="171538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2090423"/>
            <a:ext cx="135131" cy="1305563"/>
            <a:chOff x="0" y="0"/>
            <a:chExt cx="180175" cy="1740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103120"/>
            <a:ext cx="9144000" cy="640080"/>
            <a:chOff x="0" y="0"/>
            <a:chExt cx="121920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Bangladesh LPG Market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5840" y="2668524"/>
            <a:ext cx="9144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495057"/>
                </a:solidFill>
                <a:latin typeface="Calibri (MS)"/>
                <a:ea typeface="Calibri (MS)"/>
                <a:cs typeface="Calibri (MS)"/>
                <a:sym typeface="Calibri (MS)"/>
              </a:rPr>
              <a:t>Growing at 15% annually; ~4 million cylinder users in Dhaka alone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3727" y="3614671"/>
            <a:ext cx="9705337" cy="1292857"/>
            <a:chOff x="0" y="0"/>
            <a:chExt cx="12940449" cy="1723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09" y="8509"/>
              <a:ext cx="129235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405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1715389"/>
                  </a:lnTo>
                  <a:cubicBezTo>
                    <a:pt x="12940538" y="1720088"/>
                    <a:pt x="12936727" y="1723898"/>
                    <a:pt x="129320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2932028" y="1706880"/>
                  </a:lnTo>
                  <a:lnTo>
                    <a:pt x="12932028" y="1715389"/>
                  </a:lnTo>
                  <a:lnTo>
                    <a:pt x="12923520" y="171538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7383" y="3608327"/>
            <a:ext cx="135131" cy="1305563"/>
            <a:chOff x="0" y="0"/>
            <a:chExt cx="180175" cy="17407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3621024"/>
            <a:ext cx="9144000" cy="640080"/>
            <a:chOff x="0" y="0"/>
            <a:chExt cx="121920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Government Policy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05840" y="4186428"/>
            <a:ext cx="9144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495057"/>
                </a:solidFill>
                <a:latin typeface="Calibri (MS)"/>
                <a:ea typeface="Calibri (MS)"/>
                <a:cs typeface="Calibri (MS)"/>
                <a:sym typeface="Calibri (MS)"/>
              </a:rPr>
              <a:t>GoB's National 3R Strategy &amp; Waste Management Policy strongly supports biogas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3727" y="5132575"/>
            <a:ext cx="9705337" cy="1292857"/>
            <a:chOff x="0" y="0"/>
            <a:chExt cx="12940449" cy="17238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129235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405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1715389"/>
                  </a:lnTo>
                  <a:cubicBezTo>
                    <a:pt x="12940538" y="1720088"/>
                    <a:pt x="12936727" y="1723898"/>
                    <a:pt x="129320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2932028" y="1706880"/>
                  </a:lnTo>
                  <a:lnTo>
                    <a:pt x="12932028" y="1715389"/>
                  </a:lnTo>
                  <a:lnTo>
                    <a:pt x="12923520" y="171538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7383" y="5126231"/>
            <a:ext cx="135131" cy="1305563"/>
            <a:chOff x="0" y="0"/>
            <a:chExt cx="180175" cy="1740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5840" y="5138928"/>
            <a:ext cx="9144000" cy="640080"/>
            <a:chOff x="0" y="0"/>
            <a:chExt cx="121920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Urban Population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5840" y="5704332"/>
            <a:ext cx="9144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495057"/>
                </a:solidFill>
                <a:latin typeface="Calibri (MS)"/>
                <a:ea typeface="Calibri (MS)"/>
                <a:cs typeface="Calibri (MS)"/>
                <a:sym typeface="Calibri (MS)"/>
              </a:rPr>
              <a:t>Dhaka's 22M+ residents generate massive organic waste streams daily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33727" y="6650479"/>
            <a:ext cx="9705337" cy="1292857"/>
            <a:chOff x="0" y="0"/>
            <a:chExt cx="12940449" cy="17238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29235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405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1715389"/>
                  </a:lnTo>
                  <a:cubicBezTo>
                    <a:pt x="12940538" y="1720088"/>
                    <a:pt x="12936727" y="1723898"/>
                    <a:pt x="129320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2932028" y="1706880"/>
                  </a:lnTo>
                  <a:lnTo>
                    <a:pt x="12932028" y="1715389"/>
                  </a:lnTo>
                  <a:lnTo>
                    <a:pt x="12923520" y="171538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7383" y="6644135"/>
            <a:ext cx="135131" cy="1305563"/>
            <a:chOff x="0" y="0"/>
            <a:chExt cx="180175" cy="1740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6656832"/>
            <a:ext cx="9144000" cy="640080"/>
            <a:chOff x="0" y="0"/>
            <a:chExt cx="121920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 Dependency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05840" y="7222236"/>
            <a:ext cx="9144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495057"/>
                </a:solidFill>
                <a:latin typeface="Calibri (MS)"/>
                <a:ea typeface="Calibri (MS)"/>
                <a:cs typeface="Calibri (MS)"/>
                <a:sym typeface="Calibri (MS)"/>
              </a:rPr>
              <a:t>Bangladesh imports 97% of LPG — domestic biogas reduces import costs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33727" y="8168383"/>
            <a:ext cx="9705337" cy="1292857"/>
            <a:chOff x="0" y="0"/>
            <a:chExt cx="12940449" cy="172380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8509"/>
              <a:ext cx="129235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405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1715389"/>
                  </a:lnTo>
                  <a:cubicBezTo>
                    <a:pt x="12940538" y="1720088"/>
                    <a:pt x="12936727" y="1723898"/>
                    <a:pt x="129320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2932028" y="1706880"/>
                  </a:lnTo>
                  <a:lnTo>
                    <a:pt x="12932028" y="1715389"/>
                  </a:lnTo>
                  <a:lnTo>
                    <a:pt x="12923520" y="1715389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27383" y="8162039"/>
            <a:ext cx="135131" cy="1305563"/>
            <a:chOff x="0" y="0"/>
            <a:chExt cx="180175" cy="17407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0086" cy="1740662"/>
            </a:xfrm>
            <a:custGeom>
              <a:avLst/>
              <a:gdLst/>
              <a:ahLst/>
              <a:cxnLst/>
              <a:rect r="r" b="b" t="t" l="l"/>
              <a:pathLst>
                <a:path h="17406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23771"/>
                  </a:lnTo>
                  <a:cubicBezTo>
                    <a:pt x="180086" y="1733169"/>
                    <a:pt x="172466" y="1740662"/>
                    <a:pt x="163195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63195" y="1706880"/>
                  </a:lnTo>
                  <a:lnTo>
                    <a:pt x="163195" y="1723771"/>
                  </a:lnTo>
                  <a:lnTo>
                    <a:pt x="146304" y="17237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5840" y="8174736"/>
            <a:ext cx="9144000" cy="640080"/>
            <a:chOff x="0" y="0"/>
            <a:chExt cx="1219200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Customers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05840" y="8740140"/>
            <a:ext cx="9144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495057"/>
                </a:solidFill>
                <a:latin typeface="Calibri (MS)"/>
                <a:ea typeface="Calibri (MS)"/>
                <a:cs typeface="Calibri (MS)"/>
                <a:sym typeface="Calibri (MS)"/>
              </a:rPr>
              <a:t>Urban households, restaurants, garment factories, hospitals, schools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96144" y="1335024"/>
            <a:ext cx="8119872" cy="7754112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 rot="0">
            <a:off x="627383" y="7851143"/>
            <a:ext cx="17033243" cy="1579883"/>
            <a:chOff x="0" y="0"/>
            <a:chExt cx="22710991" cy="21065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67711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71090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089531"/>
                  </a:lnTo>
                  <a:cubicBezTo>
                    <a:pt x="22710902" y="2098929"/>
                    <a:pt x="22703282" y="2106422"/>
                    <a:pt x="2269401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694010" y="2072640"/>
                  </a:lnTo>
                  <a:lnTo>
                    <a:pt x="22694010" y="2089531"/>
                  </a:lnTo>
                  <a:lnTo>
                    <a:pt x="22677120" y="20895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7863840"/>
            <a:ext cx="16642080" cy="1554480"/>
            <a:chOff x="0" y="0"/>
            <a:chExt cx="22189440" cy="2072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1894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604" r="0" b="-1586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218944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 Bangladesh's LPG market is worth USD 800M+ — domestic biogas can capture 5–10% within 5 years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BUSINESS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3400" y="2087880"/>
            <a:ext cx="8077200" cy="3413760"/>
            <a:chOff x="0" y="0"/>
            <a:chExt cx="10769600" cy="455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320" y="20320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9600" cy="4551680"/>
            </a:xfrm>
            <a:custGeom>
              <a:avLst/>
              <a:gdLst/>
              <a:ahLst/>
              <a:cxnLst/>
              <a:rect r="r" b="b" t="t" l="l"/>
              <a:pathLst>
                <a:path h="4551680" w="10769600">
                  <a:moveTo>
                    <a:pt x="20320" y="0"/>
                  </a:moveTo>
                  <a:lnTo>
                    <a:pt x="10749280" y="0"/>
                  </a:lnTo>
                  <a:cubicBezTo>
                    <a:pt x="10760456" y="0"/>
                    <a:pt x="10769600" y="9144"/>
                    <a:pt x="10769600" y="20320"/>
                  </a:cubicBezTo>
                  <a:lnTo>
                    <a:pt x="10769600" y="4531360"/>
                  </a:lnTo>
                  <a:cubicBezTo>
                    <a:pt x="10769600" y="4542536"/>
                    <a:pt x="10760456" y="4551680"/>
                    <a:pt x="10749280" y="4551680"/>
                  </a:cubicBezTo>
                  <a:lnTo>
                    <a:pt x="20320" y="4551680"/>
                  </a:lnTo>
                  <a:cubicBezTo>
                    <a:pt x="9144" y="4551680"/>
                    <a:pt x="0" y="4542536"/>
                    <a:pt x="0" y="45313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531360"/>
                  </a:lnTo>
                  <a:lnTo>
                    <a:pt x="20320" y="4531360"/>
                  </a:lnTo>
                  <a:lnTo>
                    <a:pt x="20320" y="4511040"/>
                  </a:lnTo>
                  <a:lnTo>
                    <a:pt x="10749280" y="4511040"/>
                  </a:lnTo>
                  <a:lnTo>
                    <a:pt x="10749280" y="4531360"/>
                  </a:lnTo>
                  <a:lnTo>
                    <a:pt x="10728961" y="4531360"/>
                  </a:lnTo>
                  <a:lnTo>
                    <a:pt x="10728961" y="20320"/>
                  </a:lnTo>
                  <a:lnTo>
                    <a:pt x="10749280" y="20320"/>
                  </a:lnTo>
                  <a:lnTo>
                    <a:pt x="107492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072123" cy="171707"/>
            <a:chOff x="0" y="0"/>
            <a:chExt cx="10762831" cy="228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228856"/>
            </a:xfrm>
            <a:custGeom>
              <a:avLst/>
              <a:gdLst/>
              <a:ahLst/>
              <a:cxnLst/>
              <a:rect r="r" b="b" t="t" l="l"/>
              <a:pathLst>
                <a:path h="22885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11963"/>
                  </a:lnTo>
                  <a:cubicBezTo>
                    <a:pt x="10762742" y="221361"/>
                    <a:pt x="10755122" y="228854"/>
                    <a:pt x="10745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10745851" y="195072"/>
                  </a:lnTo>
                  <a:lnTo>
                    <a:pt x="10745851" y="211963"/>
                  </a:lnTo>
                  <a:lnTo>
                    <a:pt x="10728960" y="2119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505456"/>
            <a:ext cx="822960" cy="822960"/>
            <a:chOff x="0" y="0"/>
            <a:chExt cx="1097280" cy="10972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28800" y="2377440"/>
            <a:ext cx="6583680" cy="731520"/>
            <a:chOff x="0" y="0"/>
            <a:chExt cx="87782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0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778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Cylinder Gas Sales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346704"/>
            <a:ext cx="7589520" cy="1828800"/>
            <a:chOff x="0" y="0"/>
            <a:chExt cx="1011936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19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19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kg &amp; 35 kg cylinders sold to households, restaurants &amp; industries via dealer network at BDT 900–1,200/cylinder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03080" y="2087880"/>
            <a:ext cx="8077200" cy="3413760"/>
            <a:chOff x="0" y="0"/>
            <a:chExt cx="10769600" cy="455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0320" y="20320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9600" cy="4551680"/>
            </a:xfrm>
            <a:custGeom>
              <a:avLst/>
              <a:gdLst/>
              <a:ahLst/>
              <a:cxnLst/>
              <a:rect r="r" b="b" t="t" l="l"/>
              <a:pathLst>
                <a:path h="4551680" w="10769600">
                  <a:moveTo>
                    <a:pt x="20320" y="0"/>
                  </a:moveTo>
                  <a:lnTo>
                    <a:pt x="10749280" y="0"/>
                  </a:lnTo>
                  <a:cubicBezTo>
                    <a:pt x="10760456" y="0"/>
                    <a:pt x="10769600" y="9144"/>
                    <a:pt x="10769600" y="20320"/>
                  </a:cubicBezTo>
                  <a:lnTo>
                    <a:pt x="10769600" y="4531360"/>
                  </a:lnTo>
                  <a:cubicBezTo>
                    <a:pt x="10769600" y="4542536"/>
                    <a:pt x="10760456" y="4551680"/>
                    <a:pt x="10749280" y="4551680"/>
                  </a:cubicBezTo>
                  <a:lnTo>
                    <a:pt x="20320" y="4551680"/>
                  </a:lnTo>
                  <a:cubicBezTo>
                    <a:pt x="9144" y="4551680"/>
                    <a:pt x="0" y="4542536"/>
                    <a:pt x="0" y="45313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531360"/>
                  </a:lnTo>
                  <a:lnTo>
                    <a:pt x="20320" y="4531360"/>
                  </a:lnTo>
                  <a:lnTo>
                    <a:pt x="20320" y="4511040"/>
                  </a:lnTo>
                  <a:lnTo>
                    <a:pt x="10749280" y="4511040"/>
                  </a:lnTo>
                  <a:lnTo>
                    <a:pt x="10749280" y="4531360"/>
                  </a:lnTo>
                  <a:lnTo>
                    <a:pt x="10728961" y="4531360"/>
                  </a:lnTo>
                  <a:lnTo>
                    <a:pt x="10728961" y="20320"/>
                  </a:lnTo>
                  <a:lnTo>
                    <a:pt x="10749280" y="20320"/>
                  </a:lnTo>
                  <a:lnTo>
                    <a:pt x="107492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05623" y="2090423"/>
            <a:ext cx="8072123" cy="171707"/>
            <a:chOff x="0" y="0"/>
            <a:chExt cx="10762831" cy="2289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742" cy="228856"/>
            </a:xfrm>
            <a:custGeom>
              <a:avLst/>
              <a:gdLst/>
              <a:ahLst/>
              <a:cxnLst/>
              <a:rect r="r" b="b" t="t" l="l"/>
              <a:pathLst>
                <a:path h="22885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11963"/>
                  </a:lnTo>
                  <a:cubicBezTo>
                    <a:pt x="10762742" y="221361"/>
                    <a:pt x="10755122" y="228854"/>
                    <a:pt x="10745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10745851" y="195072"/>
                  </a:lnTo>
                  <a:lnTo>
                    <a:pt x="10745851" y="211963"/>
                  </a:lnTo>
                  <a:lnTo>
                    <a:pt x="10728960" y="2119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92640" y="2505456"/>
            <a:ext cx="822960" cy="822960"/>
            <a:chOff x="0" y="0"/>
            <a:chExt cx="1097280" cy="109728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698480" y="2377440"/>
            <a:ext cx="6583680" cy="731520"/>
            <a:chOff x="0" y="0"/>
            <a:chExt cx="877824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778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Bio-fertilizer Sales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92640" y="3346704"/>
            <a:ext cx="7589520" cy="1828800"/>
            <a:chOff x="0" y="0"/>
            <a:chExt cx="10119360" cy="2438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19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19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Digested slurry (digestate) sold as organic fertilizer to farmers at BDT 8–15/kg — high-value by-product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3400" y="5928360"/>
            <a:ext cx="8077200" cy="3413760"/>
            <a:chOff x="0" y="0"/>
            <a:chExt cx="10769600" cy="4551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0320" y="20320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69600" cy="4551680"/>
            </a:xfrm>
            <a:custGeom>
              <a:avLst/>
              <a:gdLst/>
              <a:ahLst/>
              <a:cxnLst/>
              <a:rect r="r" b="b" t="t" l="l"/>
              <a:pathLst>
                <a:path h="4551680" w="10769600">
                  <a:moveTo>
                    <a:pt x="20320" y="0"/>
                  </a:moveTo>
                  <a:lnTo>
                    <a:pt x="10749280" y="0"/>
                  </a:lnTo>
                  <a:cubicBezTo>
                    <a:pt x="10760456" y="0"/>
                    <a:pt x="10769600" y="9144"/>
                    <a:pt x="10769600" y="20320"/>
                  </a:cubicBezTo>
                  <a:lnTo>
                    <a:pt x="10769600" y="4531360"/>
                  </a:lnTo>
                  <a:cubicBezTo>
                    <a:pt x="10769600" y="4542536"/>
                    <a:pt x="10760456" y="4551680"/>
                    <a:pt x="10749280" y="4551680"/>
                  </a:cubicBezTo>
                  <a:lnTo>
                    <a:pt x="20320" y="4551680"/>
                  </a:lnTo>
                  <a:cubicBezTo>
                    <a:pt x="9144" y="4551680"/>
                    <a:pt x="0" y="4542536"/>
                    <a:pt x="0" y="45313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531360"/>
                  </a:lnTo>
                  <a:lnTo>
                    <a:pt x="20320" y="4531360"/>
                  </a:lnTo>
                  <a:lnTo>
                    <a:pt x="20320" y="4511040"/>
                  </a:lnTo>
                  <a:lnTo>
                    <a:pt x="10749280" y="4511040"/>
                  </a:lnTo>
                  <a:lnTo>
                    <a:pt x="10749280" y="4531360"/>
                  </a:lnTo>
                  <a:lnTo>
                    <a:pt x="10728961" y="4531360"/>
                  </a:lnTo>
                  <a:lnTo>
                    <a:pt x="10728961" y="20320"/>
                  </a:lnTo>
                  <a:lnTo>
                    <a:pt x="10749280" y="20320"/>
                  </a:lnTo>
                  <a:lnTo>
                    <a:pt x="107492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35943" y="5930903"/>
            <a:ext cx="8072123" cy="171707"/>
            <a:chOff x="0" y="0"/>
            <a:chExt cx="10762831" cy="2289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2742" cy="228856"/>
            </a:xfrm>
            <a:custGeom>
              <a:avLst/>
              <a:gdLst/>
              <a:ahLst/>
              <a:cxnLst/>
              <a:rect r="r" b="b" t="t" l="l"/>
              <a:pathLst>
                <a:path h="22885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11963"/>
                  </a:lnTo>
                  <a:cubicBezTo>
                    <a:pt x="10762742" y="221361"/>
                    <a:pt x="10755122" y="228854"/>
                    <a:pt x="10745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10745851" y="195072"/>
                  </a:lnTo>
                  <a:lnTo>
                    <a:pt x="10745851" y="211963"/>
                  </a:lnTo>
                  <a:lnTo>
                    <a:pt x="10728960" y="2119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345936"/>
            <a:ext cx="822960" cy="822960"/>
            <a:chOff x="0" y="0"/>
            <a:chExt cx="1097280" cy="109728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828800" y="6217920"/>
            <a:ext cx="6583680" cy="731520"/>
            <a:chOff x="0" y="0"/>
            <a:chExt cx="877824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778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Collection Fee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7187184"/>
            <a:ext cx="7589520" cy="1828800"/>
            <a:chOff x="0" y="0"/>
            <a:chExt cx="10119360" cy="2438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19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119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Municipal partnership fee per tonne of organic waste collected from city wards — BDT 400–700/tonne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03080" y="5928360"/>
            <a:ext cx="8077200" cy="3413760"/>
            <a:chOff x="0" y="0"/>
            <a:chExt cx="10769600" cy="455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0320" y="20320"/>
              <a:ext cx="1072896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9600" cy="4551680"/>
            </a:xfrm>
            <a:custGeom>
              <a:avLst/>
              <a:gdLst/>
              <a:ahLst/>
              <a:cxnLst/>
              <a:rect r="r" b="b" t="t" l="l"/>
              <a:pathLst>
                <a:path h="4551680" w="10769600">
                  <a:moveTo>
                    <a:pt x="20320" y="0"/>
                  </a:moveTo>
                  <a:lnTo>
                    <a:pt x="10749280" y="0"/>
                  </a:lnTo>
                  <a:cubicBezTo>
                    <a:pt x="10760456" y="0"/>
                    <a:pt x="10769600" y="9144"/>
                    <a:pt x="10769600" y="20320"/>
                  </a:cubicBezTo>
                  <a:lnTo>
                    <a:pt x="10769600" y="4531360"/>
                  </a:lnTo>
                  <a:cubicBezTo>
                    <a:pt x="10769600" y="4542536"/>
                    <a:pt x="10760456" y="4551680"/>
                    <a:pt x="10749280" y="4551680"/>
                  </a:cubicBezTo>
                  <a:lnTo>
                    <a:pt x="20320" y="4551680"/>
                  </a:lnTo>
                  <a:cubicBezTo>
                    <a:pt x="9144" y="4551680"/>
                    <a:pt x="0" y="4542536"/>
                    <a:pt x="0" y="45313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531360"/>
                  </a:lnTo>
                  <a:lnTo>
                    <a:pt x="20320" y="4531360"/>
                  </a:lnTo>
                  <a:lnTo>
                    <a:pt x="20320" y="4511040"/>
                  </a:lnTo>
                  <a:lnTo>
                    <a:pt x="10749280" y="4511040"/>
                  </a:lnTo>
                  <a:lnTo>
                    <a:pt x="10749280" y="4531360"/>
                  </a:lnTo>
                  <a:lnTo>
                    <a:pt x="10728961" y="4531360"/>
                  </a:lnTo>
                  <a:lnTo>
                    <a:pt x="10728961" y="20320"/>
                  </a:lnTo>
                  <a:lnTo>
                    <a:pt x="10749280" y="20320"/>
                  </a:lnTo>
                  <a:lnTo>
                    <a:pt x="107492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05623" y="5930903"/>
            <a:ext cx="8072123" cy="171707"/>
            <a:chOff x="0" y="0"/>
            <a:chExt cx="10762831" cy="22894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62742" cy="228856"/>
            </a:xfrm>
            <a:custGeom>
              <a:avLst/>
              <a:gdLst/>
              <a:ahLst/>
              <a:cxnLst/>
              <a:rect r="r" b="b" t="t" l="l"/>
              <a:pathLst>
                <a:path h="22885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11963"/>
                  </a:lnTo>
                  <a:cubicBezTo>
                    <a:pt x="10762742" y="221361"/>
                    <a:pt x="10755122" y="228854"/>
                    <a:pt x="10745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10745851" y="195072"/>
                  </a:lnTo>
                  <a:lnTo>
                    <a:pt x="10745851" y="211963"/>
                  </a:lnTo>
                  <a:lnTo>
                    <a:pt x="10728960" y="2119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92640" y="6345936"/>
            <a:ext cx="822960" cy="822960"/>
            <a:chOff x="0" y="0"/>
            <a:chExt cx="1097280" cy="109728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698480" y="6217920"/>
            <a:ext cx="6583680" cy="731520"/>
            <a:chOff x="0" y="0"/>
            <a:chExt cx="87782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0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778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Carbon Credits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92640" y="7187184"/>
            <a:ext cx="7589520" cy="1828800"/>
            <a:chOff x="0" y="0"/>
            <a:chExt cx="10119360" cy="2438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19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119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 with Gold Standard / VERRA for carbon credits. Estimated 8,000 tCO₂e/year per 50T plant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PLANT OPERATIONS &amp; TECHNOLOGY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2287" y="2005327"/>
            <a:ext cx="7876537" cy="7510777"/>
            <a:chOff x="0" y="0"/>
            <a:chExt cx="10502049" cy="100143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10485119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02138" cy="10014458"/>
            </a:xfrm>
            <a:custGeom>
              <a:avLst/>
              <a:gdLst/>
              <a:ahLst/>
              <a:cxnLst/>
              <a:rect r="r" b="b" t="t" l="l"/>
              <a:pathLst>
                <a:path h="1001445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3810"/>
                    <a:pt x="10502138" y="8509"/>
                  </a:cubicBezTo>
                  <a:lnTo>
                    <a:pt x="10502138" y="10005949"/>
                  </a:lnTo>
                  <a:cubicBezTo>
                    <a:pt x="10502138" y="10010648"/>
                    <a:pt x="10498327" y="10014458"/>
                    <a:pt x="10493628" y="10014458"/>
                  </a:cubicBezTo>
                  <a:lnTo>
                    <a:pt x="8509" y="10014458"/>
                  </a:lnTo>
                  <a:cubicBezTo>
                    <a:pt x="3810" y="10014458"/>
                    <a:pt x="0" y="10010648"/>
                    <a:pt x="0" y="10005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005949"/>
                  </a:lnTo>
                  <a:lnTo>
                    <a:pt x="8509" y="10005949"/>
                  </a:lnTo>
                  <a:lnTo>
                    <a:pt x="8509" y="9997440"/>
                  </a:lnTo>
                  <a:lnTo>
                    <a:pt x="10493628" y="9997440"/>
                  </a:lnTo>
                  <a:lnTo>
                    <a:pt x="10493628" y="10005949"/>
                  </a:lnTo>
                  <a:lnTo>
                    <a:pt x="10485120" y="10005949"/>
                  </a:lnTo>
                  <a:lnTo>
                    <a:pt x="10485120" y="8509"/>
                  </a:lnTo>
                  <a:lnTo>
                    <a:pt x="10493628" y="8509"/>
                  </a:lnTo>
                  <a:lnTo>
                    <a:pt x="10493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998983"/>
            <a:ext cx="7889243" cy="848363"/>
            <a:chOff x="0" y="0"/>
            <a:chExt cx="105189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14171"/>
                  </a:lnTo>
                  <a:cubicBezTo>
                    <a:pt x="10518901" y="1123569"/>
                    <a:pt x="10511282" y="1131062"/>
                    <a:pt x="105020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502011" y="1097280"/>
                  </a:lnTo>
                  <a:lnTo>
                    <a:pt x="10502011" y="1114171"/>
                  </a:lnTo>
                  <a:lnTo>
                    <a:pt x="10485120" y="11141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011680"/>
            <a:ext cx="7863840" cy="822960"/>
            <a:chOff x="0" y="0"/>
            <a:chExt cx="104851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 Plant Specifications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4830" y="3013710"/>
            <a:ext cx="7871460" cy="794004"/>
            <a:chOff x="0" y="0"/>
            <a:chExt cx="10495280" cy="1058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8FF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17520"/>
            <a:ext cx="3657600" cy="786384"/>
            <a:chOff x="0" y="0"/>
            <a:chExt cx="4876800" cy="10485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Feedstock Capacity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80560" y="3017520"/>
            <a:ext cx="3840480" cy="786384"/>
            <a:chOff x="0" y="0"/>
            <a:chExt cx="5120640" cy="10485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tonnes/day of organic waste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4830" y="3800094"/>
            <a:ext cx="7871460" cy="794004"/>
            <a:chOff x="0" y="0"/>
            <a:chExt cx="10495280" cy="1058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803904"/>
            <a:ext cx="3657600" cy="786384"/>
            <a:chOff x="0" y="0"/>
            <a:chExt cx="4876800" cy="10485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Biogas Output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80560" y="3803904"/>
            <a:ext cx="3840480" cy="786384"/>
            <a:chOff x="0" y="0"/>
            <a:chExt cx="5120640" cy="10485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~10,000 m³/day raw biogas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4830" y="4586478"/>
            <a:ext cx="7871460" cy="794004"/>
            <a:chOff x="0" y="0"/>
            <a:chExt cx="10495280" cy="1058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8FFF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4590288"/>
            <a:ext cx="3657600" cy="786384"/>
            <a:chOff x="0" y="0"/>
            <a:chExt cx="4876800" cy="10485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Methane Content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80560" y="4590288"/>
            <a:ext cx="3840480" cy="786384"/>
            <a:chOff x="0" y="0"/>
            <a:chExt cx="5120640" cy="10485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55–65% CH₄ after digestion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4830" y="5372862"/>
            <a:ext cx="7871460" cy="794004"/>
            <a:chOff x="0" y="0"/>
            <a:chExt cx="10495280" cy="1058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5376672"/>
            <a:ext cx="3657600" cy="786384"/>
            <a:chOff x="0" y="0"/>
            <a:chExt cx="4876800" cy="10485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Purified Gas Output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480560" y="5376672"/>
            <a:ext cx="3840480" cy="786384"/>
            <a:chOff x="0" y="0"/>
            <a:chExt cx="5120640" cy="10485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~5,500 m³/day (after cleaning)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4830" y="6159246"/>
            <a:ext cx="7871460" cy="794004"/>
            <a:chOff x="0" y="0"/>
            <a:chExt cx="10495280" cy="10586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8FFF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6163056"/>
            <a:ext cx="3657600" cy="786384"/>
            <a:chOff x="0" y="0"/>
            <a:chExt cx="4876800" cy="10485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Cylinders/Day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480560" y="6163056"/>
            <a:ext cx="3840480" cy="786384"/>
            <a:chOff x="0" y="0"/>
            <a:chExt cx="5120640" cy="10485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~450 units (12 kg equivalent)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44830" y="6945630"/>
            <a:ext cx="7871460" cy="794004"/>
            <a:chOff x="0" y="0"/>
            <a:chExt cx="10495280" cy="1058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6949440"/>
            <a:ext cx="3657600" cy="786384"/>
            <a:chOff x="0" y="0"/>
            <a:chExt cx="4876800" cy="10485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Retention Time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480560" y="6949440"/>
            <a:ext cx="3840480" cy="786384"/>
            <a:chOff x="0" y="0"/>
            <a:chExt cx="5120640" cy="10485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25–30 days (HRT)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44830" y="7732014"/>
            <a:ext cx="7871460" cy="794004"/>
            <a:chOff x="0" y="0"/>
            <a:chExt cx="10495280" cy="10586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8FFF8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31520" y="7735824"/>
            <a:ext cx="3657600" cy="786384"/>
            <a:chOff x="0" y="0"/>
            <a:chExt cx="4876800" cy="10485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Digester Type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480560" y="7735824"/>
            <a:ext cx="3840480" cy="786384"/>
            <a:chOff x="0" y="0"/>
            <a:chExt cx="5120640" cy="10485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Stirred Tank Reactor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44830" y="8518398"/>
            <a:ext cx="7871460" cy="794004"/>
            <a:chOff x="0" y="0"/>
            <a:chExt cx="10495280" cy="10586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80" y="5080"/>
              <a:ext cx="104851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4952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0495280">
                  <a:moveTo>
                    <a:pt x="5080" y="0"/>
                  </a:moveTo>
                  <a:lnTo>
                    <a:pt x="10490200" y="0"/>
                  </a:lnTo>
                  <a:cubicBezTo>
                    <a:pt x="10492994" y="0"/>
                    <a:pt x="10495280" y="2286"/>
                    <a:pt x="10495280" y="5080"/>
                  </a:cubicBezTo>
                  <a:lnTo>
                    <a:pt x="10495280" y="1053592"/>
                  </a:lnTo>
                  <a:cubicBezTo>
                    <a:pt x="10495280" y="1056386"/>
                    <a:pt x="10492994" y="1058672"/>
                    <a:pt x="104902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0490200" y="1048512"/>
                  </a:lnTo>
                  <a:lnTo>
                    <a:pt x="10490200" y="1053592"/>
                  </a:lnTo>
                  <a:lnTo>
                    <a:pt x="10485120" y="1053592"/>
                  </a:lnTo>
                  <a:lnTo>
                    <a:pt x="10485120" y="5080"/>
                  </a:lnTo>
                  <a:lnTo>
                    <a:pt x="10490200" y="5080"/>
                  </a:lnTo>
                  <a:lnTo>
                    <a:pt x="104902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31520" y="8522208"/>
            <a:ext cx="3657600" cy="786384"/>
            <a:chOff x="0" y="0"/>
            <a:chExt cx="4876800" cy="10485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76800" cy="1048512"/>
            </a:xfrm>
            <a:custGeom>
              <a:avLst/>
              <a:gdLst/>
              <a:ahLst/>
              <a:cxnLst/>
              <a:rect r="r" b="b" t="t" l="l"/>
              <a:pathLst>
                <a:path h="10485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28" r="0" b="-4062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87680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950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480560" y="8522208"/>
            <a:ext cx="3840480" cy="786384"/>
            <a:chOff x="0" y="0"/>
            <a:chExt cx="5120640" cy="10485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59" r="0" b="-4515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1206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Narayanganj / Gazipur, near Dhaka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954767" y="2005327"/>
            <a:ext cx="8790937" cy="7510777"/>
            <a:chOff x="0" y="0"/>
            <a:chExt cx="11721249" cy="1001436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11704319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704319">
                  <a:moveTo>
                    <a:pt x="0" y="0"/>
                  </a:moveTo>
                  <a:lnTo>
                    <a:pt x="11704319" y="0"/>
                  </a:lnTo>
                  <a:lnTo>
                    <a:pt x="1170431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721338" cy="10014458"/>
            </a:xfrm>
            <a:custGeom>
              <a:avLst/>
              <a:gdLst/>
              <a:ahLst/>
              <a:cxnLst/>
              <a:rect r="r" b="b" t="t" l="l"/>
              <a:pathLst>
                <a:path h="10014458" w="11721338">
                  <a:moveTo>
                    <a:pt x="8509" y="0"/>
                  </a:moveTo>
                  <a:lnTo>
                    <a:pt x="11712828" y="0"/>
                  </a:lnTo>
                  <a:cubicBezTo>
                    <a:pt x="11717527" y="0"/>
                    <a:pt x="11721338" y="3810"/>
                    <a:pt x="11721338" y="8509"/>
                  </a:cubicBezTo>
                  <a:lnTo>
                    <a:pt x="11721338" y="10005949"/>
                  </a:lnTo>
                  <a:cubicBezTo>
                    <a:pt x="11721338" y="10010648"/>
                    <a:pt x="11717527" y="10014458"/>
                    <a:pt x="11712828" y="10014458"/>
                  </a:cubicBezTo>
                  <a:lnTo>
                    <a:pt x="8509" y="10014458"/>
                  </a:lnTo>
                  <a:cubicBezTo>
                    <a:pt x="3810" y="10014458"/>
                    <a:pt x="0" y="10010648"/>
                    <a:pt x="0" y="10005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005949"/>
                  </a:lnTo>
                  <a:lnTo>
                    <a:pt x="8509" y="10005949"/>
                  </a:lnTo>
                  <a:lnTo>
                    <a:pt x="8509" y="9997440"/>
                  </a:lnTo>
                  <a:lnTo>
                    <a:pt x="11712828" y="9997440"/>
                  </a:lnTo>
                  <a:lnTo>
                    <a:pt x="11712828" y="10005949"/>
                  </a:lnTo>
                  <a:lnTo>
                    <a:pt x="11704320" y="10005949"/>
                  </a:lnTo>
                  <a:lnTo>
                    <a:pt x="11704320" y="8509"/>
                  </a:lnTo>
                  <a:lnTo>
                    <a:pt x="11712828" y="8509"/>
                  </a:lnTo>
                  <a:lnTo>
                    <a:pt x="117128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948423" y="1998983"/>
            <a:ext cx="8803643" cy="848363"/>
            <a:chOff x="0" y="0"/>
            <a:chExt cx="11738191" cy="11311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7381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114171"/>
                  </a:lnTo>
                  <a:cubicBezTo>
                    <a:pt x="11738101" y="1123569"/>
                    <a:pt x="11730482" y="1131062"/>
                    <a:pt x="117212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721211" y="1097280"/>
                  </a:lnTo>
                  <a:lnTo>
                    <a:pt x="11721211" y="1114171"/>
                  </a:lnTo>
                  <a:lnTo>
                    <a:pt x="11704320" y="1114171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961120" y="2011680"/>
            <a:ext cx="8778240" cy="822960"/>
            <a:chOff x="0" y="0"/>
            <a:chExt cx="11704320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Equipment &amp; Process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957310" y="3013710"/>
            <a:ext cx="8785860" cy="794004"/>
            <a:chOff x="0" y="0"/>
            <a:chExt cx="11714480" cy="105867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144000" y="3017520"/>
            <a:ext cx="2926080" cy="786384"/>
            <a:chOff x="0" y="0"/>
            <a:chExt cx="3901440" cy="10485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Reception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161520" y="3017520"/>
            <a:ext cx="5303520" cy="786384"/>
            <a:chOff x="0" y="0"/>
            <a:chExt cx="7071360" cy="10485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Weighbridge, tipping floor, shredder &amp; mixer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957310" y="3800094"/>
            <a:ext cx="8785860" cy="794004"/>
            <a:chOff x="0" y="0"/>
            <a:chExt cx="11714480" cy="105867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144000" y="3803904"/>
            <a:ext cx="2926080" cy="786384"/>
            <a:chOff x="0" y="0"/>
            <a:chExt cx="3901440" cy="10485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Digester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161520" y="3803904"/>
            <a:ext cx="5303520" cy="786384"/>
            <a:chOff x="0" y="0"/>
            <a:chExt cx="7071360" cy="10485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CSTR anaerobic digester, insulated &amp; heated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957310" y="4586478"/>
            <a:ext cx="8785860" cy="794004"/>
            <a:chOff x="0" y="0"/>
            <a:chExt cx="11714480" cy="10586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144000" y="4590288"/>
            <a:ext cx="2926080" cy="786384"/>
            <a:chOff x="0" y="0"/>
            <a:chExt cx="3901440" cy="104851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Gas Cleaning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161520" y="4590288"/>
            <a:ext cx="5303520" cy="786384"/>
            <a:chOff x="0" y="0"/>
            <a:chExt cx="7071360" cy="104851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H₂S scrubber → CO₂ removal (PSA/membrane)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957310" y="5372862"/>
            <a:ext cx="8785860" cy="794004"/>
            <a:chOff x="0" y="0"/>
            <a:chExt cx="11714480" cy="105867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144000" y="5376672"/>
            <a:ext cx="2926080" cy="786384"/>
            <a:chOff x="0" y="0"/>
            <a:chExt cx="3901440" cy="104851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Compression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161520" y="5376672"/>
            <a:ext cx="5303520" cy="786384"/>
            <a:chOff x="0" y="0"/>
            <a:chExt cx="7071360" cy="104851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Multi-stage compressor up to 200 bar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8957310" y="6159246"/>
            <a:ext cx="8785860" cy="794004"/>
            <a:chOff x="0" y="0"/>
            <a:chExt cx="11714480" cy="105867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144000" y="6163056"/>
            <a:ext cx="2926080" cy="786384"/>
            <a:chOff x="0" y="0"/>
            <a:chExt cx="3901440" cy="104851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Cylinder Filling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161520" y="6163056"/>
            <a:ext cx="5303520" cy="786384"/>
            <a:chOff x="0" y="0"/>
            <a:chExt cx="7071360" cy="10485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Auto-filling manifold with safety cut-offs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8957310" y="6945630"/>
            <a:ext cx="8785860" cy="794004"/>
            <a:chOff x="0" y="0"/>
            <a:chExt cx="11714480" cy="105867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144000" y="6949440"/>
            <a:ext cx="2926080" cy="786384"/>
            <a:chOff x="0" y="0"/>
            <a:chExt cx="3901440" cy="104851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 Testing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161520" y="6949440"/>
            <a:ext cx="5303520" cy="786384"/>
            <a:chOff x="0" y="0"/>
            <a:chExt cx="7071360" cy="104851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GC analysis lab for gas purity certification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8957310" y="7732014"/>
            <a:ext cx="8785860" cy="794004"/>
            <a:chOff x="0" y="0"/>
            <a:chExt cx="11714480" cy="105867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144000" y="7735824"/>
            <a:ext cx="2926080" cy="786384"/>
            <a:chOff x="0" y="0"/>
            <a:chExt cx="3901440" cy="104851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Digestate Handling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161520" y="7735824"/>
            <a:ext cx="5303520" cy="786384"/>
            <a:chOff x="0" y="0"/>
            <a:chExt cx="7071360" cy="104851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Screw press separator + drying for fertilizer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957310" y="8518398"/>
            <a:ext cx="8785860" cy="794004"/>
            <a:chOff x="0" y="0"/>
            <a:chExt cx="11714480" cy="105867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5080" y="5080"/>
              <a:ext cx="1170432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48512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714480" cy="1058672"/>
            </a:xfrm>
            <a:custGeom>
              <a:avLst/>
              <a:gdLst/>
              <a:ahLst/>
              <a:cxnLst/>
              <a:rect r="r" b="b" t="t" l="l"/>
              <a:pathLst>
                <a:path h="1058672" w="11714480">
                  <a:moveTo>
                    <a:pt x="5080" y="0"/>
                  </a:moveTo>
                  <a:lnTo>
                    <a:pt x="11709400" y="0"/>
                  </a:lnTo>
                  <a:cubicBezTo>
                    <a:pt x="11712194" y="0"/>
                    <a:pt x="11714480" y="2286"/>
                    <a:pt x="11714480" y="5080"/>
                  </a:cubicBezTo>
                  <a:lnTo>
                    <a:pt x="11714480" y="1053592"/>
                  </a:lnTo>
                  <a:cubicBezTo>
                    <a:pt x="11714480" y="1056386"/>
                    <a:pt x="11712194" y="1058672"/>
                    <a:pt x="11709400" y="1058672"/>
                  </a:cubicBezTo>
                  <a:lnTo>
                    <a:pt x="5080" y="1058672"/>
                  </a:lnTo>
                  <a:cubicBezTo>
                    <a:pt x="2286" y="1058672"/>
                    <a:pt x="0" y="1056386"/>
                    <a:pt x="0" y="105359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53592"/>
                  </a:lnTo>
                  <a:lnTo>
                    <a:pt x="5080" y="1053592"/>
                  </a:lnTo>
                  <a:lnTo>
                    <a:pt x="5080" y="1048512"/>
                  </a:lnTo>
                  <a:lnTo>
                    <a:pt x="11709400" y="1048512"/>
                  </a:lnTo>
                  <a:lnTo>
                    <a:pt x="11709400" y="1053592"/>
                  </a:lnTo>
                  <a:lnTo>
                    <a:pt x="11704320" y="1053592"/>
                  </a:lnTo>
                  <a:lnTo>
                    <a:pt x="11704320" y="5080"/>
                  </a:lnTo>
                  <a:lnTo>
                    <a:pt x="11709400" y="5080"/>
                  </a:lnTo>
                  <a:lnTo>
                    <a:pt x="11709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144000" y="8522208"/>
            <a:ext cx="2926080" cy="786384"/>
            <a:chOff x="0" y="0"/>
            <a:chExt cx="3901440" cy="104851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9014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02" r="0" b="-22502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90144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Safety Systems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161520" y="8522208"/>
            <a:ext cx="5303520" cy="786384"/>
            <a:chOff x="0" y="0"/>
            <a:chExt cx="7071360" cy="104851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707136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7071360" cy="1086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125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Flame arrestors, gas detectors, emergency vent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 PLAN &amp; TIMELINE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1962407"/>
            <a:ext cx="17033243" cy="354587"/>
            <a:chOff x="0" y="0"/>
            <a:chExt cx="22710991" cy="472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677119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710902" cy="472696"/>
            </a:xfrm>
            <a:custGeom>
              <a:avLst/>
              <a:gdLst/>
              <a:ahLst/>
              <a:cxnLst/>
              <a:rect r="r" b="b" t="t" l="l"/>
              <a:pathLst>
                <a:path h="47269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455803"/>
                  </a:lnTo>
                  <a:cubicBezTo>
                    <a:pt x="22710902" y="465201"/>
                    <a:pt x="22703282" y="472694"/>
                    <a:pt x="22694010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22694010" y="438912"/>
                  </a:lnTo>
                  <a:lnTo>
                    <a:pt x="22694010" y="455803"/>
                  </a:lnTo>
                  <a:lnTo>
                    <a:pt x="22677120" y="45580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816103"/>
            <a:ext cx="647195" cy="647195"/>
            <a:chOff x="0" y="0"/>
            <a:chExt cx="862927" cy="862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674"/>
                    <a:pt x="829056" y="414528"/>
                  </a:cubicBezTo>
                  <a:cubicBezTo>
                    <a:pt x="829056" y="643382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2965" cy="862838"/>
            </a:xfrm>
            <a:custGeom>
              <a:avLst/>
              <a:gdLst/>
              <a:ahLst/>
              <a:cxnLst/>
              <a:rect r="r" b="b" t="t" l="l"/>
              <a:pathLst>
                <a:path h="862838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lnTo>
                    <a:pt x="431419" y="16891"/>
                  </a:lnTo>
                  <a:lnTo>
                    <a:pt x="431419" y="0"/>
                  </a:lnTo>
                  <a:cubicBezTo>
                    <a:pt x="669798" y="0"/>
                    <a:pt x="862965" y="193167"/>
                    <a:pt x="862965" y="431419"/>
                  </a:cubicBezTo>
                  <a:lnTo>
                    <a:pt x="845947" y="431419"/>
                  </a:lnTo>
                  <a:lnTo>
                    <a:pt x="862838" y="431419"/>
                  </a:lnTo>
                  <a:cubicBezTo>
                    <a:pt x="862838" y="669671"/>
                    <a:pt x="669671" y="862838"/>
                    <a:pt x="431419" y="862838"/>
                  </a:cubicBezTo>
                  <a:lnTo>
                    <a:pt x="431419" y="845947"/>
                  </a:lnTo>
                  <a:lnTo>
                    <a:pt x="431419" y="862838"/>
                  </a:lnTo>
                  <a:cubicBezTo>
                    <a:pt x="193167" y="862965"/>
                    <a:pt x="0" y="669798"/>
                    <a:pt x="0" y="431419"/>
                  </a:cubicBezTo>
                  <a:lnTo>
                    <a:pt x="16891" y="431419"/>
                  </a:lnTo>
                  <a:lnTo>
                    <a:pt x="31242" y="440436"/>
                  </a:lnTo>
                  <a:cubicBezTo>
                    <a:pt x="27178" y="446786"/>
                    <a:pt x="19431" y="449834"/>
                    <a:pt x="12192" y="447675"/>
                  </a:cubicBezTo>
                  <a:cubicBezTo>
                    <a:pt x="4953" y="445516"/>
                    <a:pt x="0" y="439039"/>
                    <a:pt x="0" y="431419"/>
                  </a:cubicBezTo>
                  <a:moveTo>
                    <a:pt x="33909" y="431419"/>
                  </a:moveTo>
                  <a:lnTo>
                    <a:pt x="16891" y="431419"/>
                  </a:lnTo>
                  <a:lnTo>
                    <a:pt x="2540" y="422529"/>
                  </a:lnTo>
                  <a:cubicBezTo>
                    <a:pt x="6604" y="416179"/>
                    <a:pt x="14351" y="413131"/>
                    <a:pt x="21590" y="415290"/>
                  </a:cubicBezTo>
                  <a:cubicBezTo>
                    <a:pt x="28829" y="417449"/>
                    <a:pt x="33909" y="424053"/>
                    <a:pt x="33909" y="431546"/>
                  </a:cubicBezTo>
                  <a:cubicBezTo>
                    <a:pt x="33909" y="651129"/>
                    <a:pt x="211963" y="829183"/>
                    <a:pt x="431546" y="829183"/>
                  </a:cubicBezTo>
                  <a:cubicBezTo>
                    <a:pt x="651129" y="829183"/>
                    <a:pt x="829183" y="651129"/>
                    <a:pt x="829183" y="431546"/>
                  </a:cubicBezTo>
                  <a:cubicBezTo>
                    <a:pt x="829183" y="211963"/>
                    <a:pt x="651129" y="33909"/>
                    <a:pt x="431546" y="33909"/>
                  </a:cubicBezTo>
                  <a:lnTo>
                    <a:pt x="431546" y="16891"/>
                  </a:lnTo>
                  <a:lnTo>
                    <a:pt x="431546" y="33909"/>
                  </a:lnTo>
                  <a:cubicBezTo>
                    <a:pt x="211836" y="33909"/>
                    <a:pt x="33909" y="211836"/>
                    <a:pt x="33909" y="431419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25063" y="1816103"/>
            <a:ext cx="647195" cy="647195"/>
            <a:chOff x="0" y="0"/>
            <a:chExt cx="862927" cy="862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674"/>
                    <a:pt x="829056" y="414528"/>
                  </a:cubicBezTo>
                  <a:cubicBezTo>
                    <a:pt x="829056" y="643382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2965" cy="862838"/>
            </a:xfrm>
            <a:custGeom>
              <a:avLst/>
              <a:gdLst/>
              <a:ahLst/>
              <a:cxnLst/>
              <a:rect r="r" b="b" t="t" l="l"/>
              <a:pathLst>
                <a:path h="862838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lnTo>
                    <a:pt x="431419" y="16891"/>
                  </a:lnTo>
                  <a:lnTo>
                    <a:pt x="431419" y="0"/>
                  </a:lnTo>
                  <a:cubicBezTo>
                    <a:pt x="669798" y="0"/>
                    <a:pt x="862965" y="193167"/>
                    <a:pt x="862965" y="431419"/>
                  </a:cubicBezTo>
                  <a:lnTo>
                    <a:pt x="845947" y="431419"/>
                  </a:lnTo>
                  <a:lnTo>
                    <a:pt x="862838" y="431419"/>
                  </a:lnTo>
                  <a:cubicBezTo>
                    <a:pt x="862838" y="669671"/>
                    <a:pt x="669671" y="862838"/>
                    <a:pt x="431419" y="862838"/>
                  </a:cubicBezTo>
                  <a:lnTo>
                    <a:pt x="431419" y="845947"/>
                  </a:lnTo>
                  <a:lnTo>
                    <a:pt x="431419" y="862838"/>
                  </a:lnTo>
                  <a:cubicBezTo>
                    <a:pt x="193167" y="862965"/>
                    <a:pt x="0" y="669798"/>
                    <a:pt x="0" y="431419"/>
                  </a:cubicBezTo>
                  <a:lnTo>
                    <a:pt x="16891" y="431419"/>
                  </a:lnTo>
                  <a:lnTo>
                    <a:pt x="31242" y="440436"/>
                  </a:lnTo>
                  <a:cubicBezTo>
                    <a:pt x="27178" y="446786"/>
                    <a:pt x="19431" y="449834"/>
                    <a:pt x="12192" y="447675"/>
                  </a:cubicBezTo>
                  <a:cubicBezTo>
                    <a:pt x="4953" y="445516"/>
                    <a:pt x="0" y="439039"/>
                    <a:pt x="0" y="431419"/>
                  </a:cubicBezTo>
                  <a:moveTo>
                    <a:pt x="33909" y="431419"/>
                  </a:moveTo>
                  <a:lnTo>
                    <a:pt x="16891" y="431419"/>
                  </a:lnTo>
                  <a:lnTo>
                    <a:pt x="2540" y="422529"/>
                  </a:lnTo>
                  <a:cubicBezTo>
                    <a:pt x="6604" y="416179"/>
                    <a:pt x="14351" y="413131"/>
                    <a:pt x="21590" y="415290"/>
                  </a:cubicBezTo>
                  <a:cubicBezTo>
                    <a:pt x="28829" y="417449"/>
                    <a:pt x="33909" y="424053"/>
                    <a:pt x="33909" y="431546"/>
                  </a:cubicBezTo>
                  <a:cubicBezTo>
                    <a:pt x="33909" y="651129"/>
                    <a:pt x="211963" y="829183"/>
                    <a:pt x="431546" y="829183"/>
                  </a:cubicBezTo>
                  <a:cubicBezTo>
                    <a:pt x="651129" y="829183"/>
                    <a:pt x="829183" y="651129"/>
                    <a:pt x="829183" y="431546"/>
                  </a:cubicBezTo>
                  <a:cubicBezTo>
                    <a:pt x="829183" y="211963"/>
                    <a:pt x="651129" y="33909"/>
                    <a:pt x="431546" y="33909"/>
                  </a:cubicBezTo>
                  <a:lnTo>
                    <a:pt x="431546" y="16891"/>
                  </a:lnTo>
                  <a:lnTo>
                    <a:pt x="431546" y="33909"/>
                  </a:lnTo>
                  <a:cubicBezTo>
                    <a:pt x="211836" y="33909"/>
                    <a:pt x="33909" y="211836"/>
                    <a:pt x="33909" y="431419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22743" y="1816103"/>
            <a:ext cx="647195" cy="647195"/>
            <a:chOff x="0" y="0"/>
            <a:chExt cx="862927" cy="8629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674"/>
                    <a:pt x="829056" y="414528"/>
                  </a:cubicBezTo>
                  <a:cubicBezTo>
                    <a:pt x="829056" y="643382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2965" cy="862838"/>
            </a:xfrm>
            <a:custGeom>
              <a:avLst/>
              <a:gdLst/>
              <a:ahLst/>
              <a:cxnLst/>
              <a:rect r="r" b="b" t="t" l="l"/>
              <a:pathLst>
                <a:path h="862838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lnTo>
                    <a:pt x="431419" y="16891"/>
                  </a:lnTo>
                  <a:lnTo>
                    <a:pt x="431419" y="0"/>
                  </a:lnTo>
                  <a:cubicBezTo>
                    <a:pt x="669798" y="0"/>
                    <a:pt x="862965" y="193167"/>
                    <a:pt x="862965" y="431419"/>
                  </a:cubicBezTo>
                  <a:lnTo>
                    <a:pt x="845947" y="431419"/>
                  </a:lnTo>
                  <a:lnTo>
                    <a:pt x="862838" y="431419"/>
                  </a:lnTo>
                  <a:cubicBezTo>
                    <a:pt x="862838" y="669671"/>
                    <a:pt x="669671" y="862838"/>
                    <a:pt x="431419" y="862838"/>
                  </a:cubicBezTo>
                  <a:lnTo>
                    <a:pt x="431419" y="845947"/>
                  </a:lnTo>
                  <a:lnTo>
                    <a:pt x="431419" y="862838"/>
                  </a:lnTo>
                  <a:cubicBezTo>
                    <a:pt x="193167" y="862965"/>
                    <a:pt x="0" y="669798"/>
                    <a:pt x="0" y="431419"/>
                  </a:cubicBezTo>
                  <a:lnTo>
                    <a:pt x="16891" y="431419"/>
                  </a:lnTo>
                  <a:lnTo>
                    <a:pt x="31242" y="440436"/>
                  </a:lnTo>
                  <a:cubicBezTo>
                    <a:pt x="27178" y="446786"/>
                    <a:pt x="19431" y="449834"/>
                    <a:pt x="12192" y="447675"/>
                  </a:cubicBezTo>
                  <a:cubicBezTo>
                    <a:pt x="4953" y="445516"/>
                    <a:pt x="0" y="439039"/>
                    <a:pt x="0" y="431419"/>
                  </a:cubicBezTo>
                  <a:moveTo>
                    <a:pt x="33909" y="431419"/>
                  </a:moveTo>
                  <a:lnTo>
                    <a:pt x="16891" y="431419"/>
                  </a:lnTo>
                  <a:lnTo>
                    <a:pt x="2540" y="422529"/>
                  </a:lnTo>
                  <a:cubicBezTo>
                    <a:pt x="6604" y="416179"/>
                    <a:pt x="14351" y="413131"/>
                    <a:pt x="21590" y="415290"/>
                  </a:cubicBezTo>
                  <a:cubicBezTo>
                    <a:pt x="28829" y="417449"/>
                    <a:pt x="33909" y="424053"/>
                    <a:pt x="33909" y="431546"/>
                  </a:cubicBezTo>
                  <a:cubicBezTo>
                    <a:pt x="33909" y="651129"/>
                    <a:pt x="211963" y="829183"/>
                    <a:pt x="431546" y="829183"/>
                  </a:cubicBezTo>
                  <a:cubicBezTo>
                    <a:pt x="651129" y="829183"/>
                    <a:pt x="829183" y="651129"/>
                    <a:pt x="829183" y="431546"/>
                  </a:cubicBezTo>
                  <a:cubicBezTo>
                    <a:pt x="829183" y="211963"/>
                    <a:pt x="651129" y="33909"/>
                    <a:pt x="431546" y="33909"/>
                  </a:cubicBezTo>
                  <a:lnTo>
                    <a:pt x="431546" y="16891"/>
                  </a:lnTo>
                  <a:lnTo>
                    <a:pt x="431546" y="33909"/>
                  </a:lnTo>
                  <a:cubicBezTo>
                    <a:pt x="211836" y="33909"/>
                    <a:pt x="33909" y="211836"/>
                    <a:pt x="33909" y="431419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520423" y="1816103"/>
            <a:ext cx="647195" cy="647195"/>
            <a:chOff x="0" y="0"/>
            <a:chExt cx="862927" cy="8629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674"/>
                    <a:pt x="829056" y="414528"/>
                  </a:cubicBezTo>
                  <a:cubicBezTo>
                    <a:pt x="829056" y="643382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2965" cy="862838"/>
            </a:xfrm>
            <a:custGeom>
              <a:avLst/>
              <a:gdLst/>
              <a:ahLst/>
              <a:cxnLst/>
              <a:rect r="r" b="b" t="t" l="l"/>
              <a:pathLst>
                <a:path h="862838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lnTo>
                    <a:pt x="431419" y="16891"/>
                  </a:lnTo>
                  <a:lnTo>
                    <a:pt x="431419" y="0"/>
                  </a:lnTo>
                  <a:cubicBezTo>
                    <a:pt x="669798" y="0"/>
                    <a:pt x="862965" y="193167"/>
                    <a:pt x="862965" y="431419"/>
                  </a:cubicBezTo>
                  <a:lnTo>
                    <a:pt x="845947" y="431419"/>
                  </a:lnTo>
                  <a:lnTo>
                    <a:pt x="862838" y="431419"/>
                  </a:lnTo>
                  <a:cubicBezTo>
                    <a:pt x="862838" y="669671"/>
                    <a:pt x="669671" y="862838"/>
                    <a:pt x="431419" y="862838"/>
                  </a:cubicBezTo>
                  <a:lnTo>
                    <a:pt x="431419" y="845947"/>
                  </a:lnTo>
                  <a:lnTo>
                    <a:pt x="431419" y="862838"/>
                  </a:lnTo>
                  <a:cubicBezTo>
                    <a:pt x="193167" y="862965"/>
                    <a:pt x="0" y="669798"/>
                    <a:pt x="0" y="431419"/>
                  </a:cubicBezTo>
                  <a:lnTo>
                    <a:pt x="16891" y="431419"/>
                  </a:lnTo>
                  <a:lnTo>
                    <a:pt x="31242" y="440436"/>
                  </a:lnTo>
                  <a:cubicBezTo>
                    <a:pt x="27178" y="446786"/>
                    <a:pt x="19431" y="449834"/>
                    <a:pt x="12192" y="447675"/>
                  </a:cubicBezTo>
                  <a:cubicBezTo>
                    <a:pt x="4953" y="445516"/>
                    <a:pt x="0" y="439039"/>
                    <a:pt x="0" y="431419"/>
                  </a:cubicBezTo>
                  <a:moveTo>
                    <a:pt x="33909" y="431419"/>
                  </a:moveTo>
                  <a:lnTo>
                    <a:pt x="16891" y="431419"/>
                  </a:lnTo>
                  <a:lnTo>
                    <a:pt x="2540" y="422529"/>
                  </a:lnTo>
                  <a:cubicBezTo>
                    <a:pt x="6604" y="416179"/>
                    <a:pt x="14351" y="413131"/>
                    <a:pt x="21590" y="415290"/>
                  </a:cubicBezTo>
                  <a:cubicBezTo>
                    <a:pt x="28829" y="417449"/>
                    <a:pt x="33909" y="424053"/>
                    <a:pt x="33909" y="431546"/>
                  </a:cubicBezTo>
                  <a:cubicBezTo>
                    <a:pt x="33909" y="651129"/>
                    <a:pt x="211963" y="829183"/>
                    <a:pt x="431546" y="829183"/>
                  </a:cubicBezTo>
                  <a:cubicBezTo>
                    <a:pt x="651129" y="829183"/>
                    <a:pt x="829183" y="651129"/>
                    <a:pt x="829183" y="431546"/>
                  </a:cubicBezTo>
                  <a:cubicBezTo>
                    <a:pt x="829183" y="211963"/>
                    <a:pt x="651129" y="33909"/>
                    <a:pt x="431546" y="33909"/>
                  </a:cubicBezTo>
                  <a:lnTo>
                    <a:pt x="431546" y="16891"/>
                  </a:lnTo>
                  <a:lnTo>
                    <a:pt x="431546" y="33909"/>
                  </a:lnTo>
                  <a:cubicBezTo>
                    <a:pt x="211836" y="33909"/>
                    <a:pt x="33909" y="211836"/>
                    <a:pt x="33909" y="431419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3400" y="2727960"/>
            <a:ext cx="3870960" cy="6614160"/>
            <a:chOff x="0" y="0"/>
            <a:chExt cx="5161280" cy="8818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0320" y="20320"/>
              <a:ext cx="5120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61280" cy="8818880"/>
            </a:xfrm>
            <a:custGeom>
              <a:avLst/>
              <a:gdLst/>
              <a:ahLst/>
              <a:cxnLst/>
              <a:rect r="r" b="b" t="t" l="l"/>
              <a:pathLst>
                <a:path h="8818880" w="5161280">
                  <a:moveTo>
                    <a:pt x="20320" y="0"/>
                  </a:moveTo>
                  <a:lnTo>
                    <a:pt x="5140960" y="0"/>
                  </a:lnTo>
                  <a:cubicBezTo>
                    <a:pt x="5152136" y="0"/>
                    <a:pt x="5161280" y="9144"/>
                    <a:pt x="5161280" y="20320"/>
                  </a:cubicBezTo>
                  <a:lnTo>
                    <a:pt x="5161280" y="8798560"/>
                  </a:lnTo>
                  <a:cubicBezTo>
                    <a:pt x="5161280" y="8809736"/>
                    <a:pt x="5152136" y="8818880"/>
                    <a:pt x="5140960" y="8818880"/>
                  </a:cubicBezTo>
                  <a:lnTo>
                    <a:pt x="20320" y="8818880"/>
                  </a:lnTo>
                  <a:cubicBezTo>
                    <a:pt x="9144" y="8818880"/>
                    <a:pt x="0" y="8809736"/>
                    <a:pt x="0" y="87985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798560"/>
                  </a:lnTo>
                  <a:lnTo>
                    <a:pt x="20320" y="8798560"/>
                  </a:lnTo>
                  <a:lnTo>
                    <a:pt x="20320" y="8778240"/>
                  </a:lnTo>
                  <a:lnTo>
                    <a:pt x="5140960" y="8778240"/>
                  </a:lnTo>
                  <a:lnTo>
                    <a:pt x="5140960" y="8798560"/>
                  </a:lnTo>
                  <a:lnTo>
                    <a:pt x="5120640" y="8798560"/>
                  </a:lnTo>
                  <a:lnTo>
                    <a:pt x="5120640" y="20320"/>
                  </a:lnTo>
                  <a:lnTo>
                    <a:pt x="5140960" y="20320"/>
                  </a:lnTo>
                  <a:lnTo>
                    <a:pt x="51409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5943" y="2730503"/>
            <a:ext cx="3865883" cy="1159259"/>
            <a:chOff x="0" y="0"/>
            <a:chExt cx="5154511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44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528699"/>
                  </a:lnTo>
                  <a:cubicBezTo>
                    <a:pt x="5154422" y="1538097"/>
                    <a:pt x="5146802" y="1545590"/>
                    <a:pt x="51375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137531" y="1511808"/>
                  </a:lnTo>
                  <a:lnTo>
                    <a:pt x="5137531" y="1528699"/>
                  </a:lnTo>
                  <a:lnTo>
                    <a:pt x="5120640" y="152869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8640" y="2743200"/>
            <a:ext cx="3840480" cy="585216"/>
            <a:chOff x="0" y="0"/>
            <a:chExt cx="512064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1206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3328416"/>
            <a:ext cx="3840480" cy="548640"/>
            <a:chOff x="0" y="0"/>
            <a:chExt cx="5120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 1–6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3986784"/>
            <a:ext cx="3840480" cy="731520"/>
            <a:chOff x="0" y="0"/>
            <a:chExt cx="512064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&amp; Setup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" y="4846320"/>
            <a:ext cx="3474720" cy="987552"/>
            <a:chOff x="0" y="0"/>
            <a:chExt cx="4632960" cy="1316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 audit &amp; site selection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520" y="5870448"/>
            <a:ext cx="3474720" cy="987552"/>
            <a:chOff x="0" y="0"/>
            <a:chExt cx="4632960" cy="1316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registration &amp; permits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" y="6894576"/>
            <a:ext cx="3474720" cy="987552"/>
            <a:chOff x="0" y="0"/>
            <a:chExt cx="4632960" cy="1316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Municipal MOU signing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1520" y="7918704"/>
            <a:ext cx="3474720" cy="987552"/>
            <a:chOff x="0" y="0"/>
            <a:chExt cx="4632960" cy="13167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Detailed engineering design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67656" y="2727960"/>
            <a:ext cx="3870960" cy="6614160"/>
            <a:chOff x="0" y="0"/>
            <a:chExt cx="5161280" cy="8818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0320" y="20320"/>
              <a:ext cx="5120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61280" cy="8818880"/>
            </a:xfrm>
            <a:custGeom>
              <a:avLst/>
              <a:gdLst/>
              <a:ahLst/>
              <a:cxnLst/>
              <a:rect r="r" b="b" t="t" l="l"/>
              <a:pathLst>
                <a:path h="8818880" w="5161280">
                  <a:moveTo>
                    <a:pt x="20320" y="0"/>
                  </a:moveTo>
                  <a:lnTo>
                    <a:pt x="5140960" y="0"/>
                  </a:lnTo>
                  <a:cubicBezTo>
                    <a:pt x="5152136" y="0"/>
                    <a:pt x="5161280" y="9144"/>
                    <a:pt x="5161280" y="20320"/>
                  </a:cubicBezTo>
                  <a:lnTo>
                    <a:pt x="5161280" y="8798560"/>
                  </a:lnTo>
                  <a:cubicBezTo>
                    <a:pt x="5161280" y="8809736"/>
                    <a:pt x="5152136" y="8818880"/>
                    <a:pt x="5140960" y="8818880"/>
                  </a:cubicBezTo>
                  <a:lnTo>
                    <a:pt x="20320" y="8818880"/>
                  </a:lnTo>
                  <a:cubicBezTo>
                    <a:pt x="9144" y="8818880"/>
                    <a:pt x="0" y="8809736"/>
                    <a:pt x="0" y="87985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798560"/>
                  </a:lnTo>
                  <a:lnTo>
                    <a:pt x="20320" y="8798560"/>
                  </a:lnTo>
                  <a:lnTo>
                    <a:pt x="20320" y="8778240"/>
                  </a:lnTo>
                  <a:lnTo>
                    <a:pt x="5140960" y="8778240"/>
                  </a:lnTo>
                  <a:lnTo>
                    <a:pt x="5140960" y="8798560"/>
                  </a:lnTo>
                  <a:lnTo>
                    <a:pt x="5120640" y="8798560"/>
                  </a:lnTo>
                  <a:lnTo>
                    <a:pt x="5120640" y="20320"/>
                  </a:lnTo>
                  <a:lnTo>
                    <a:pt x="5140960" y="20320"/>
                  </a:lnTo>
                  <a:lnTo>
                    <a:pt x="51409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70199" y="2730503"/>
            <a:ext cx="3865883" cy="1159259"/>
            <a:chOff x="0" y="0"/>
            <a:chExt cx="5154511" cy="154567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544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528699"/>
                  </a:lnTo>
                  <a:cubicBezTo>
                    <a:pt x="5154422" y="1538097"/>
                    <a:pt x="5146802" y="1545590"/>
                    <a:pt x="51375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137531" y="1511808"/>
                  </a:lnTo>
                  <a:lnTo>
                    <a:pt x="5137531" y="1528699"/>
                  </a:lnTo>
                  <a:lnTo>
                    <a:pt x="5120640" y="152869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882896" y="2743200"/>
            <a:ext cx="3840480" cy="585216"/>
            <a:chOff x="0" y="0"/>
            <a:chExt cx="512064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51206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882896" y="3328416"/>
            <a:ext cx="3840480" cy="548640"/>
            <a:chOff x="0" y="0"/>
            <a:chExt cx="512064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 7–12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82896" y="3986784"/>
            <a:ext cx="3840480" cy="731520"/>
            <a:chOff x="0" y="0"/>
            <a:chExt cx="512064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65776" y="4846320"/>
            <a:ext cx="3474720" cy="987552"/>
            <a:chOff x="0" y="0"/>
            <a:chExt cx="4632960" cy="13167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 civil works &amp; installation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65776" y="5870448"/>
            <a:ext cx="3474720" cy="987552"/>
            <a:chOff x="0" y="0"/>
            <a:chExt cx="4632960" cy="13167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Equipment procurement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65776" y="6894576"/>
            <a:ext cx="3474720" cy="987552"/>
            <a:chOff x="0" y="0"/>
            <a:chExt cx="4632960" cy="1316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 recruitment &amp; training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065776" y="7918704"/>
            <a:ext cx="3474720" cy="987552"/>
            <a:chOff x="0" y="0"/>
            <a:chExt cx="4632960" cy="13167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Safety certification &amp; testing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01912" y="2727960"/>
            <a:ext cx="3870960" cy="6614160"/>
            <a:chOff x="0" y="0"/>
            <a:chExt cx="5161280" cy="88188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0320" y="20320"/>
              <a:ext cx="5120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61280" cy="8818880"/>
            </a:xfrm>
            <a:custGeom>
              <a:avLst/>
              <a:gdLst/>
              <a:ahLst/>
              <a:cxnLst/>
              <a:rect r="r" b="b" t="t" l="l"/>
              <a:pathLst>
                <a:path h="8818880" w="5161280">
                  <a:moveTo>
                    <a:pt x="20320" y="0"/>
                  </a:moveTo>
                  <a:lnTo>
                    <a:pt x="5140960" y="0"/>
                  </a:lnTo>
                  <a:cubicBezTo>
                    <a:pt x="5152136" y="0"/>
                    <a:pt x="5161280" y="9144"/>
                    <a:pt x="5161280" y="20320"/>
                  </a:cubicBezTo>
                  <a:lnTo>
                    <a:pt x="5161280" y="8798560"/>
                  </a:lnTo>
                  <a:cubicBezTo>
                    <a:pt x="5161280" y="8809736"/>
                    <a:pt x="5152136" y="8818880"/>
                    <a:pt x="5140960" y="8818880"/>
                  </a:cubicBezTo>
                  <a:lnTo>
                    <a:pt x="20320" y="8818880"/>
                  </a:lnTo>
                  <a:cubicBezTo>
                    <a:pt x="9144" y="8818880"/>
                    <a:pt x="0" y="8809736"/>
                    <a:pt x="0" y="87985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798560"/>
                  </a:lnTo>
                  <a:lnTo>
                    <a:pt x="20320" y="8798560"/>
                  </a:lnTo>
                  <a:lnTo>
                    <a:pt x="20320" y="8778240"/>
                  </a:lnTo>
                  <a:lnTo>
                    <a:pt x="5140960" y="8778240"/>
                  </a:lnTo>
                  <a:lnTo>
                    <a:pt x="5140960" y="8798560"/>
                  </a:lnTo>
                  <a:lnTo>
                    <a:pt x="5120640" y="8798560"/>
                  </a:lnTo>
                  <a:lnTo>
                    <a:pt x="5120640" y="20320"/>
                  </a:lnTo>
                  <a:lnTo>
                    <a:pt x="5140960" y="20320"/>
                  </a:lnTo>
                  <a:lnTo>
                    <a:pt x="51409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204455" y="2730503"/>
            <a:ext cx="3865883" cy="1159259"/>
            <a:chOff x="0" y="0"/>
            <a:chExt cx="5154511" cy="154567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544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528699"/>
                  </a:lnTo>
                  <a:cubicBezTo>
                    <a:pt x="5154422" y="1538097"/>
                    <a:pt x="5146802" y="1545590"/>
                    <a:pt x="51375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137531" y="1511808"/>
                  </a:lnTo>
                  <a:lnTo>
                    <a:pt x="5137531" y="1528699"/>
                  </a:lnTo>
                  <a:lnTo>
                    <a:pt x="5120640" y="152869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217152" y="2743200"/>
            <a:ext cx="3840480" cy="585216"/>
            <a:chOff x="0" y="0"/>
            <a:chExt cx="512064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51206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217152" y="3328416"/>
            <a:ext cx="3840480" cy="548640"/>
            <a:chOff x="0" y="0"/>
            <a:chExt cx="512064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 13–18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17152" y="3986784"/>
            <a:ext cx="3840480" cy="731520"/>
            <a:chOff x="0" y="0"/>
            <a:chExt cx="512064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Pilot Operations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00032" y="4846320"/>
            <a:ext cx="3474720" cy="987552"/>
            <a:chOff x="0" y="0"/>
            <a:chExt cx="4632960" cy="13167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Trial runs at 30% capacity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0032" y="5870448"/>
            <a:ext cx="3474720" cy="987552"/>
            <a:chOff x="0" y="0"/>
            <a:chExt cx="4632960" cy="13167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Quality testing &amp; QC setup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00032" y="6894576"/>
            <a:ext cx="3474720" cy="987552"/>
            <a:chOff x="0" y="0"/>
            <a:chExt cx="4632960" cy="13167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Dealer network onboarding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400032" y="7918704"/>
            <a:ext cx="3474720" cy="987552"/>
            <a:chOff x="0" y="0"/>
            <a:chExt cx="4632960" cy="13167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Carbon credit registration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536168" y="2727960"/>
            <a:ext cx="3870960" cy="6614160"/>
            <a:chOff x="0" y="0"/>
            <a:chExt cx="5161280" cy="88188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20320" y="20320"/>
              <a:ext cx="5120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161280" cy="8818880"/>
            </a:xfrm>
            <a:custGeom>
              <a:avLst/>
              <a:gdLst/>
              <a:ahLst/>
              <a:cxnLst/>
              <a:rect r="r" b="b" t="t" l="l"/>
              <a:pathLst>
                <a:path h="8818880" w="5161280">
                  <a:moveTo>
                    <a:pt x="20320" y="0"/>
                  </a:moveTo>
                  <a:lnTo>
                    <a:pt x="5140960" y="0"/>
                  </a:lnTo>
                  <a:cubicBezTo>
                    <a:pt x="5152136" y="0"/>
                    <a:pt x="5161280" y="9144"/>
                    <a:pt x="5161280" y="20320"/>
                  </a:cubicBezTo>
                  <a:lnTo>
                    <a:pt x="5161280" y="8798560"/>
                  </a:lnTo>
                  <a:cubicBezTo>
                    <a:pt x="5161280" y="8809736"/>
                    <a:pt x="5152136" y="8818880"/>
                    <a:pt x="5140960" y="8818880"/>
                  </a:cubicBezTo>
                  <a:lnTo>
                    <a:pt x="20320" y="8818880"/>
                  </a:lnTo>
                  <a:cubicBezTo>
                    <a:pt x="9144" y="8818880"/>
                    <a:pt x="0" y="8809736"/>
                    <a:pt x="0" y="879856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798560"/>
                  </a:lnTo>
                  <a:lnTo>
                    <a:pt x="20320" y="8798560"/>
                  </a:lnTo>
                  <a:lnTo>
                    <a:pt x="20320" y="8778240"/>
                  </a:lnTo>
                  <a:lnTo>
                    <a:pt x="5140960" y="8778240"/>
                  </a:lnTo>
                  <a:lnTo>
                    <a:pt x="5140960" y="8798560"/>
                  </a:lnTo>
                  <a:lnTo>
                    <a:pt x="5120640" y="8798560"/>
                  </a:lnTo>
                  <a:lnTo>
                    <a:pt x="5120640" y="20320"/>
                  </a:lnTo>
                  <a:lnTo>
                    <a:pt x="5140960" y="20320"/>
                  </a:lnTo>
                  <a:lnTo>
                    <a:pt x="51409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538711" y="2730503"/>
            <a:ext cx="3865883" cy="1159259"/>
            <a:chOff x="0" y="0"/>
            <a:chExt cx="5154511" cy="154567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1544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528699"/>
                  </a:lnTo>
                  <a:cubicBezTo>
                    <a:pt x="5154422" y="1538097"/>
                    <a:pt x="5146802" y="1545590"/>
                    <a:pt x="51375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137531" y="1511808"/>
                  </a:lnTo>
                  <a:lnTo>
                    <a:pt x="5137531" y="1528699"/>
                  </a:lnTo>
                  <a:lnTo>
                    <a:pt x="5120640" y="152869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51408" y="2743200"/>
            <a:ext cx="3840480" cy="585216"/>
            <a:chOff x="0" y="0"/>
            <a:chExt cx="5120640" cy="7802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512064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551408" y="3328416"/>
            <a:ext cx="3840480" cy="548640"/>
            <a:chOff x="0" y="0"/>
            <a:chExt cx="5120640" cy="7315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 19–36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551408" y="3986784"/>
            <a:ext cx="3840480" cy="731520"/>
            <a:chOff x="0" y="0"/>
            <a:chExt cx="512064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Scale &amp; Expansion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734288" y="4846320"/>
            <a:ext cx="3474720" cy="987552"/>
            <a:chOff x="0" y="0"/>
            <a:chExt cx="4632960" cy="13167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Ramp to 100% capacity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734288" y="5870448"/>
            <a:ext cx="3474720" cy="987552"/>
            <a:chOff x="0" y="0"/>
            <a:chExt cx="4632960" cy="131673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Second plant planning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734288" y="6894576"/>
            <a:ext cx="3474720" cy="987552"/>
            <a:chOff x="0" y="0"/>
            <a:chExt cx="4632960" cy="131673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 to rural dealerships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734288" y="7918704"/>
            <a:ext cx="3474720" cy="987552"/>
            <a:chOff x="0" y="0"/>
            <a:chExt cx="4632960" cy="131673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632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0" b="-1855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63296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Fertilizer market development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FINANCIAL PROJECTIONS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998983"/>
            <a:ext cx="7706363" cy="5877563"/>
            <a:chOff x="0" y="0"/>
            <a:chExt cx="10275151" cy="7836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50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7819772"/>
                  </a:lnTo>
                  <a:cubicBezTo>
                    <a:pt x="10275062" y="7829169"/>
                    <a:pt x="10267442" y="7836662"/>
                    <a:pt x="10258172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0258172" y="7802880"/>
                  </a:lnTo>
                  <a:lnTo>
                    <a:pt x="10258172" y="7819772"/>
                  </a:lnTo>
                  <a:lnTo>
                    <a:pt x="10241280" y="7819772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998983"/>
            <a:ext cx="7706363" cy="848363"/>
            <a:chOff x="0" y="0"/>
            <a:chExt cx="1027515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241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75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14171"/>
                  </a:lnTo>
                  <a:cubicBezTo>
                    <a:pt x="10275062" y="1123569"/>
                    <a:pt x="10267442" y="1131062"/>
                    <a:pt x="10258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258172" y="1097280"/>
                  </a:lnTo>
                  <a:lnTo>
                    <a:pt x="10258172" y="1114171"/>
                  </a:lnTo>
                  <a:lnTo>
                    <a:pt x="10241280" y="111417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011680"/>
            <a:ext cx="7680960" cy="822960"/>
            <a:chOff x="0" y="0"/>
            <a:chExt cx="10241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 Investment (Phase 1 Plant)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4830" y="3013710"/>
            <a:ext cx="7688580" cy="812292"/>
            <a:chOff x="0" y="0"/>
            <a:chExt cx="10251440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017520"/>
            <a:ext cx="4572000" cy="804672"/>
            <a:chOff x="0" y="0"/>
            <a:chExt cx="6096000" cy="1072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Land &amp; Civil Works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94960" y="3017520"/>
            <a:ext cx="2743200" cy="804672"/>
            <a:chOff x="0" y="0"/>
            <a:chExt cx="365760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2.5 Crore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4830" y="3818382"/>
            <a:ext cx="7688580" cy="812292"/>
            <a:chOff x="0" y="0"/>
            <a:chExt cx="10251440" cy="10830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822192"/>
            <a:ext cx="4572000" cy="804672"/>
            <a:chOff x="0" y="0"/>
            <a:chExt cx="6096000" cy="1072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Biogas Digester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94960" y="3822192"/>
            <a:ext cx="2743200" cy="804672"/>
            <a:chOff x="0" y="0"/>
            <a:chExt cx="3657600" cy="1072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3.0 Crore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4830" y="4623054"/>
            <a:ext cx="7688580" cy="812292"/>
            <a:chOff x="0" y="0"/>
            <a:chExt cx="10251440" cy="1083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4626864"/>
            <a:ext cx="4572000" cy="804672"/>
            <a:chOff x="0" y="0"/>
            <a:chExt cx="609600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 Purification Unit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94960" y="4626864"/>
            <a:ext cx="2743200" cy="804672"/>
            <a:chOff x="0" y="0"/>
            <a:chExt cx="3657600" cy="10728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1.8 Crore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4830" y="5427726"/>
            <a:ext cx="7688580" cy="812292"/>
            <a:chOff x="0" y="0"/>
            <a:chExt cx="10251440" cy="10830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5431536"/>
            <a:ext cx="4572000" cy="804672"/>
            <a:chOff x="0" y="0"/>
            <a:chExt cx="6096000" cy="10728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Compression &amp; Filling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94960" y="5431536"/>
            <a:ext cx="2743200" cy="804672"/>
            <a:chOff x="0" y="0"/>
            <a:chExt cx="3657600" cy="1072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1.5 Crore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4830" y="6232398"/>
            <a:ext cx="7688580" cy="812292"/>
            <a:chOff x="0" y="0"/>
            <a:chExt cx="10251440" cy="1083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6236208"/>
            <a:ext cx="4572000" cy="804672"/>
            <a:chOff x="0" y="0"/>
            <a:chExt cx="6096000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Cylinder Fleet (500)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94960" y="6236208"/>
            <a:ext cx="2743200" cy="804672"/>
            <a:chOff x="0" y="0"/>
            <a:chExt cx="3657600" cy="10728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0.75 Crore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44830" y="7037070"/>
            <a:ext cx="7688580" cy="812292"/>
            <a:chOff x="0" y="0"/>
            <a:chExt cx="10251440" cy="1083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7040880"/>
            <a:ext cx="4572000" cy="804672"/>
            <a:chOff x="0" y="0"/>
            <a:chExt cx="609600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Vehicles &amp; Equipment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394960" y="7040880"/>
            <a:ext cx="2743200" cy="804672"/>
            <a:chOff x="0" y="0"/>
            <a:chExt cx="3657600" cy="10728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0.9 Crore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44830" y="7841742"/>
            <a:ext cx="7688580" cy="812292"/>
            <a:chOff x="0" y="0"/>
            <a:chExt cx="10251440" cy="1083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31520" y="7845552"/>
            <a:ext cx="4572000" cy="804672"/>
            <a:chOff x="0" y="0"/>
            <a:chExt cx="6096000" cy="10728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Capital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94960" y="7845552"/>
            <a:ext cx="2743200" cy="804672"/>
            <a:chOff x="0" y="0"/>
            <a:chExt cx="3657600" cy="10728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1B4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1.05 Crore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44830" y="8646414"/>
            <a:ext cx="7688580" cy="812292"/>
            <a:chOff x="0" y="0"/>
            <a:chExt cx="10251440" cy="10830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80" y="508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51440" cy="1083056"/>
            </a:xfrm>
            <a:custGeom>
              <a:avLst/>
              <a:gdLst/>
              <a:ahLst/>
              <a:cxnLst/>
              <a:rect r="r" b="b" t="t" l="l"/>
              <a:pathLst>
                <a:path h="1083056" w="10251440">
                  <a:moveTo>
                    <a:pt x="5080" y="0"/>
                  </a:moveTo>
                  <a:lnTo>
                    <a:pt x="10246360" y="0"/>
                  </a:lnTo>
                  <a:cubicBezTo>
                    <a:pt x="10249153" y="0"/>
                    <a:pt x="10251440" y="2286"/>
                    <a:pt x="10251440" y="5080"/>
                  </a:cubicBezTo>
                  <a:lnTo>
                    <a:pt x="10251440" y="1077976"/>
                  </a:lnTo>
                  <a:cubicBezTo>
                    <a:pt x="10251440" y="1080770"/>
                    <a:pt x="10249153" y="1083056"/>
                    <a:pt x="10246360" y="1083056"/>
                  </a:cubicBezTo>
                  <a:lnTo>
                    <a:pt x="5080" y="1083056"/>
                  </a:lnTo>
                  <a:cubicBezTo>
                    <a:pt x="2286" y="1083056"/>
                    <a:pt x="0" y="1080770"/>
                    <a:pt x="0" y="107797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077976"/>
                  </a:lnTo>
                  <a:lnTo>
                    <a:pt x="5080" y="1077976"/>
                  </a:lnTo>
                  <a:lnTo>
                    <a:pt x="5080" y="1072896"/>
                  </a:lnTo>
                  <a:lnTo>
                    <a:pt x="10246360" y="1072896"/>
                  </a:lnTo>
                  <a:lnTo>
                    <a:pt x="10246360" y="1077976"/>
                  </a:lnTo>
                  <a:lnTo>
                    <a:pt x="10241280" y="1077976"/>
                  </a:lnTo>
                  <a:lnTo>
                    <a:pt x="10241280" y="5080"/>
                  </a:lnTo>
                  <a:lnTo>
                    <a:pt x="10246360" y="5080"/>
                  </a:lnTo>
                  <a:lnTo>
                    <a:pt x="1024636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31520" y="8650224"/>
            <a:ext cx="4572000" cy="804672"/>
            <a:chOff x="0" y="0"/>
            <a:chExt cx="6096000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0960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0" r="0" b="-6071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0960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CAPEX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394960" y="8650224"/>
            <a:ext cx="2743200" cy="804672"/>
            <a:chOff x="0" y="0"/>
            <a:chExt cx="3657600" cy="10728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65760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11.5 Crore</a:t>
              </a:r>
            </a:p>
          </p:txBody>
        </p:sp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82128" y="1115568"/>
            <a:ext cx="10753344" cy="7644384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 rot="0">
            <a:off x="535943" y="8125463"/>
            <a:ext cx="3865883" cy="1671323"/>
            <a:chOff x="0" y="0"/>
            <a:chExt cx="5154511" cy="22284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1544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211451"/>
                  </a:lnTo>
                  <a:cubicBezTo>
                    <a:pt x="5154422" y="2220849"/>
                    <a:pt x="5146802" y="2228342"/>
                    <a:pt x="51375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137531" y="2194560"/>
                  </a:lnTo>
                  <a:lnTo>
                    <a:pt x="5137531" y="2211451"/>
                  </a:lnTo>
                  <a:lnTo>
                    <a:pt x="5120640" y="22114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48640" y="8138160"/>
            <a:ext cx="3840480" cy="950976"/>
            <a:chOff x="0" y="0"/>
            <a:chExt cx="5120640" cy="126796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76200"/>
              <a:ext cx="51206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3.5 Yrs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548640" y="8924544"/>
            <a:ext cx="3840480" cy="694944"/>
            <a:chOff x="0" y="0"/>
            <a:chExt cx="5120640" cy="9265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5120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Payback Period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4888487" y="8125463"/>
            <a:ext cx="3865883" cy="1671323"/>
            <a:chOff x="0" y="0"/>
            <a:chExt cx="5154511" cy="22284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1544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211451"/>
                  </a:lnTo>
                  <a:cubicBezTo>
                    <a:pt x="5154422" y="2220849"/>
                    <a:pt x="5146802" y="2228342"/>
                    <a:pt x="51375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137531" y="2194560"/>
                  </a:lnTo>
                  <a:lnTo>
                    <a:pt x="5137531" y="2211451"/>
                  </a:lnTo>
                  <a:lnTo>
                    <a:pt x="5120640" y="22114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901184" y="8138160"/>
            <a:ext cx="3840480" cy="950976"/>
            <a:chOff x="0" y="0"/>
            <a:chExt cx="5120640" cy="126796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51206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28%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901184" y="8924544"/>
            <a:ext cx="3840480" cy="694944"/>
            <a:chOff x="0" y="0"/>
            <a:chExt cx="5120640" cy="9265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120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IRR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241031" y="8125463"/>
            <a:ext cx="3865883" cy="1671323"/>
            <a:chOff x="0" y="0"/>
            <a:chExt cx="5154511" cy="22284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1544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211451"/>
                  </a:lnTo>
                  <a:cubicBezTo>
                    <a:pt x="5154422" y="2220849"/>
                    <a:pt x="5146802" y="2228342"/>
                    <a:pt x="51375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137531" y="2194560"/>
                  </a:lnTo>
                  <a:lnTo>
                    <a:pt x="5137531" y="2211451"/>
                  </a:lnTo>
                  <a:lnTo>
                    <a:pt x="5120640" y="22114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253728" y="8138160"/>
            <a:ext cx="3840480" cy="950976"/>
            <a:chOff x="0" y="0"/>
            <a:chExt cx="5120640" cy="126796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76200"/>
              <a:ext cx="51206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 22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253728" y="8924544"/>
            <a:ext cx="3840480" cy="694944"/>
            <a:chOff x="0" y="0"/>
            <a:chExt cx="5120640" cy="9265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5120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Break-even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593575" y="8125463"/>
            <a:ext cx="3865883" cy="1671323"/>
            <a:chOff x="0" y="0"/>
            <a:chExt cx="5154511" cy="222843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1544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211451"/>
                  </a:lnTo>
                  <a:cubicBezTo>
                    <a:pt x="5154422" y="2220849"/>
                    <a:pt x="5146802" y="2228342"/>
                    <a:pt x="51375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137531" y="2194560"/>
                  </a:lnTo>
                  <a:lnTo>
                    <a:pt x="5137531" y="2211451"/>
                  </a:lnTo>
                  <a:lnTo>
                    <a:pt x="5120640" y="221145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606272" y="8138160"/>
            <a:ext cx="3840480" cy="950976"/>
            <a:chOff x="0" y="0"/>
            <a:chExt cx="5120640" cy="126796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1206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76200"/>
              <a:ext cx="512064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22Cr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606272" y="8924544"/>
            <a:ext cx="3840480" cy="694944"/>
            <a:chOff x="0" y="0"/>
            <a:chExt cx="5120640" cy="9265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120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Y5 Revenue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GO-TO-MARKET STRATEGY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8477" y="2001517"/>
            <a:ext cx="5323837" cy="3586477"/>
            <a:chOff x="0" y="0"/>
            <a:chExt cx="7098449" cy="4781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998983"/>
            <a:ext cx="5328923" cy="153419"/>
            <a:chOff x="0" y="0"/>
            <a:chExt cx="7105231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2286000"/>
            <a:ext cx="694944" cy="694944"/>
            <a:chOff x="0" y="0"/>
            <a:chExt cx="926592" cy="9265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5920" y="2194560"/>
            <a:ext cx="4023360" cy="914400"/>
            <a:chOff x="0" y="0"/>
            <a:chExt cx="53644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Collection Network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3255264"/>
            <a:ext cx="4937760" cy="2194560"/>
            <a:chOff x="0" y="0"/>
            <a:chExt cx="658368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 with Dhaka North/South City Corporation &amp; Narayanganj City Corporation for designated waste collection zones. Target residential areas generating 2+ tonnes/day organic waste.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99197" y="2001517"/>
            <a:ext cx="5323837" cy="3586477"/>
            <a:chOff x="0" y="0"/>
            <a:chExt cx="7098449" cy="47819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296663" y="1998983"/>
            <a:ext cx="5328923" cy="153419"/>
            <a:chOff x="0" y="0"/>
            <a:chExt cx="7105231" cy="204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28816" y="2286000"/>
            <a:ext cx="694944" cy="694944"/>
            <a:chOff x="0" y="0"/>
            <a:chExt cx="926592" cy="92659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406640" y="2194560"/>
            <a:ext cx="4023360" cy="914400"/>
            <a:chOff x="0" y="0"/>
            <a:chExt cx="536448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Dealer Distribution Channel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92240" y="3255264"/>
            <a:ext cx="4937760" cy="2194560"/>
            <a:chOff x="0" y="0"/>
            <a:chExt cx="6583680" cy="292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Recruit 50+ authorized dealers in Year 1 across Dhaka, Chittagong &amp; Narayanganj. Provide dealer financing, cylinder stock &amp; marketing support.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59917" y="2001517"/>
            <a:ext cx="5323837" cy="3586477"/>
            <a:chOff x="0" y="0"/>
            <a:chExt cx="7098449" cy="47819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57383" y="1998983"/>
            <a:ext cx="5328923" cy="153419"/>
            <a:chOff x="0" y="0"/>
            <a:chExt cx="7105231" cy="2045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89536" y="2286000"/>
            <a:ext cx="694944" cy="694944"/>
            <a:chOff x="0" y="0"/>
            <a:chExt cx="926592" cy="92659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167360" y="2194560"/>
            <a:ext cx="4023360" cy="914400"/>
            <a:chOff x="0" y="0"/>
            <a:chExt cx="536448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Restaurant &amp; Hotel B2B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52960" y="3255264"/>
            <a:ext cx="4937760" cy="2194560"/>
            <a:chOff x="0" y="0"/>
            <a:chExt cx="6583680" cy="2926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supply agreements with 200+ restaurants, hotels &amp; food courts who are heavy gas consumers. Offer 10% discount vs market LPG price.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8477" y="5933437"/>
            <a:ext cx="5323837" cy="3586477"/>
            <a:chOff x="0" y="0"/>
            <a:chExt cx="7098449" cy="478196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5943" y="5930903"/>
            <a:ext cx="5328923" cy="153419"/>
            <a:chOff x="0" y="0"/>
            <a:chExt cx="7105231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68096" y="6217920"/>
            <a:ext cx="694944" cy="694944"/>
            <a:chOff x="0" y="0"/>
            <a:chExt cx="926592" cy="926592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45920" y="6126480"/>
            <a:ext cx="4023360" cy="914400"/>
            <a:chOff x="0" y="0"/>
            <a:chExt cx="536448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Brand &amp; Awareness Campaign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1520" y="7187184"/>
            <a:ext cx="4937760" cy="2194560"/>
            <a:chOff x="0" y="0"/>
            <a:chExt cx="6583680" cy="2926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Position as Bangladesh's first household-waste biogas brand. Social media, TV ads emphasizing green credentials. Partner with NGOs for community buy-in.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299197" y="5933437"/>
            <a:ext cx="5323837" cy="3586477"/>
            <a:chOff x="0" y="0"/>
            <a:chExt cx="7098449" cy="478196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296663" y="5930903"/>
            <a:ext cx="5328923" cy="153419"/>
            <a:chOff x="0" y="0"/>
            <a:chExt cx="7105231" cy="20455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528816" y="6217920"/>
            <a:ext cx="694944" cy="694944"/>
            <a:chOff x="0" y="0"/>
            <a:chExt cx="926592" cy="926592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406640" y="6126480"/>
            <a:ext cx="4023360" cy="914400"/>
            <a:chOff x="0" y="0"/>
            <a:chExt cx="536448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Government &amp; Institutional Sales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492240" y="7187184"/>
            <a:ext cx="4937760" cy="2194560"/>
            <a:chOff x="0" y="0"/>
            <a:chExt cx="6583680" cy="29260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Supply government offices, hospitals, schools &amp; army cantonments via tender/procurement. Leverage GoB waste-to-energy policy support.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059917" y="5933437"/>
            <a:ext cx="5323837" cy="3586477"/>
            <a:chOff x="0" y="0"/>
            <a:chExt cx="7098449" cy="47819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3589" y="13589"/>
              <a:ext cx="70713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98538" cy="4782058"/>
            </a:xfrm>
            <a:custGeom>
              <a:avLst/>
              <a:gdLst/>
              <a:ahLst/>
              <a:cxnLst/>
              <a:rect r="r" b="b" t="t" l="l"/>
              <a:pathLst>
                <a:path h="4782058" w="7098538">
                  <a:moveTo>
                    <a:pt x="13589" y="0"/>
                  </a:moveTo>
                  <a:lnTo>
                    <a:pt x="7084949" y="0"/>
                  </a:lnTo>
                  <a:cubicBezTo>
                    <a:pt x="7092442" y="0"/>
                    <a:pt x="7098538" y="6096"/>
                    <a:pt x="7098538" y="13589"/>
                  </a:cubicBezTo>
                  <a:lnTo>
                    <a:pt x="7098538" y="4768469"/>
                  </a:lnTo>
                  <a:cubicBezTo>
                    <a:pt x="7098538" y="4775962"/>
                    <a:pt x="7092442" y="4782058"/>
                    <a:pt x="7084949" y="4782058"/>
                  </a:cubicBezTo>
                  <a:lnTo>
                    <a:pt x="13589" y="4782058"/>
                  </a:lnTo>
                  <a:cubicBezTo>
                    <a:pt x="6096" y="4782058"/>
                    <a:pt x="0" y="4775962"/>
                    <a:pt x="0" y="47684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768469"/>
                  </a:lnTo>
                  <a:lnTo>
                    <a:pt x="13589" y="4768469"/>
                  </a:lnTo>
                  <a:lnTo>
                    <a:pt x="13589" y="4754880"/>
                  </a:lnTo>
                  <a:lnTo>
                    <a:pt x="7084949" y="4754880"/>
                  </a:lnTo>
                  <a:lnTo>
                    <a:pt x="7084949" y="4768469"/>
                  </a:lnTo>
                  <a:lnTo>
                    <a:pt x="7071360" y="4768469"/>
                  </a:lnTo>
                  <a:lnTo>
                    <a:pt x="7071360" y="13589"/>
                  </a:lnTo>
                  <a:lnTo>
                    <a:pt x="7084949" y="13589"/>
                  </a:lnTo>
                  <a:lnTo>
                    <a:pt x="70849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057383" y="5930903"/>
            <a:ext cx="5328923" cy="153419"/>
            <a:chOff x="0" y="0"/>
            <a:chExt cx="7105231" cy="20455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7071360" cy="170688"/>
            </a:xfrm>
            <a:custGeom>
              <a:avLst/>
              <a:gdLst/>
              <a:ahLst/>
              <a:cxnLst/>
              <a:rect r="r" b="b" t="t" l="l"/>
              <a:pathLst>
                <a:path h="1706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105142" cy="204472"/>
            </a:xfrm>
            <a:custGeom>
              <a:avLst/>
              <a:gdLst/>
              <a:ahLst/>
              <a:cxnLst/>
              <a:rect r="r" b="b" t="t" l="l"/>
              <a:pathLst>
                <a:path h="20447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7579"/>
                  </a:lnTo>
                  <a:cubicBezTo>
                    <a:pt x="7105142" y="196977"/>
                    <a:pt x="7097522" y="204470"/>
                    <a:pt x="7088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088251" y="170688"/>
                  </a:lnTo>
                  <a:lnTo>
                    <a:pt x="7088251" y="187579"/>
                  </a:lnTo>
                  <a:lnTo>
                    <a:pt x="7071360" y="18757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289536" y="6217920"/>
            <a:ext cx="694944" cy="694944"/>
            <a:chOff x="0" y="0"/>
            <a:chExt cx="926592" cy="926592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167360" y="6126480"/>
            <a:ext cx="4023360" cy="914400"/>
            <a:chOff x="0" y="0"/>
            <a:chExt cx="5364480" cy="1219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Platform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52960" y="7187184"/>
            <a:ext cx="4937760" cy="2194560"/>
            <a:chOff x="0" y="0"/>
            <a:chExt cx="6583680" cy="2926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for cylinder ordering, delivery tracking &amp; waste pickup scheduling. Enable cashless payments &amp; subscription model for regular customers.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ENVIRONMENTAL &amp; SOCIAL IMPACT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2287" y="2005327"/>
            <a:ext cx="5316217" cy="3487417"/>
            <a:chOff x="0" y="0"/>
            <a:chExt cx="7088289" cy="46498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47623" y="2218439"/>
            <a:ext cx="1305563" cy="1305563"/>
            <a:chOff x="0" y="0"/>
            <a:chExt cx="1740751" cy="1740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3200" y="2322576"/>
            <a:ext cx="914400" cy="914400"/>
            <a:chOff x="0" y="0"/>
            <a:chExt cx="1219200" cy="12192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3657600"/>
            <a:ext cx="5303520" cy="914400"/>
            <a:chOff x="0" y="0"/>
            <a:chExt cx="707136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18,250 tonnes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4535424"/>
            <a:ext cx="4937760" cy="1097280"/>
            <a:chOff x="0" y="0"/>
            <a:chExt cx="658368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Organic waste diverted from landfill per year (50T/day × 365)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3007" y="2005327"/>
            <a:ext cx="5316217" cy="3487417"/>
            <a:chOff x="0" y="0"/>
            <a:chExt cx="7088289" cy="46498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308343" y="2218439"/>
            <a:ext cx="1305563" cy="1305563"/>
            <a:chOff x="0" y="0"/>
            <a:chExt cx="1740751" cy="17407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03920" y="2322576"/>
            <a:ext cx="914400" cy="914400"/>
            <a:chOff x="0" y="0"/>
            <a:chExt cx="1219200" cy="1219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09360" y="3657600"/>
            <a:ext cx="5303520" cy="914400"/>
            <a:chOff x="0" y="0"/>
            <a:chExt cx="707136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12,000 tCO₂e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92240" y="4535424"/>
            <a:ext cx="4937760" cy="1097280"/>
            <a:chOff x="0" y="0"/>
            <a:chExt cx="65836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Greenhouse gases avoided annually vs landfill methane emissions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63727" y="2005327"/>
            <a:ext cx="5316217" cy="3487417"/>
            <a:chOff x="0" y="0"/>
            <a:chExt cx="7088289" cy="46498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069063" y="2218439"/>
            <a:ext cx="1305563" cy="1305563"/>
            <a:chOff x="0" y="0"/>
            <a:chExt cx="1740751" cy="17407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264640" y="2322576"/>
            <a:ext cx="914400" cy="914400"/>
            <a:chOff x="0" y="0"/>
            <a:chExt cx="1219200" cy="12192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0" y="3657600"/>
            <a:ext cx="5303520" cy="914400"/>
            <a:chOff x="0" y="0"/>
            <a:chExt cx="707136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1,650 Families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52960" y="4535424"/>
            <a:ext cx="4937760" cy="1097280"/>
            <a:chOff x="0" y="0"/>
            <a:chExt cx="658368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 households supplied with clean cooking gas daily (Year 1)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2287" y="5845807"/>
            <a:ext cx="5316217" cy="3487417"/>
            <a:chOff x="0" y="0"/>
            <a:chExt cx="7088289" cy="46498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547623" y="6058919"/>
            <a:ext cx="1305563" cy="1305563"/>
            <a:chOff x="0" y="0"/>
            <a:chExt cx="1740751" cy="17407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743200" y="6163056"/>
            <a:ext cx="914400" cy="914400"/>
            <a:chOff x="0" y="0"/>
            <a:chExt cx="1219200" cy="12192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48640" y="7498080"/>
            <a:ext cx="5303520" cy="914400"/>
            <a:chOff x="0" y="0"/>
            <a:chExt cx="707136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150+ Jobs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1520" y="8375904"/>
            <a:ext cx="4937760" cy="1097280"/>
            <a:chOff x="0" y="0"/>
            <a:chExt cx="658368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&amp; indirect employment created in collection, operations &amp; distribution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303007" y="5845807"/>
            <a:ext cx="5316217" cy="3487417"/>
            <a:chOff x="0" y="0"/>
            <a:chExt cx="7088289" cy="46498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308343" y="6058919"/>
            <a:ext cx="1305563" cy="1305563"/>
            <a:chOff x="0" y="0"/>
            <a:chExt cx="1740751" cy="174075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503920" y="6163056"/>
            <a:ext cx="914400" cy="914400"/>
            <a:chOff x="0" y="0"/>
            <a:chExt cx="1219200" cy="12192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309360" y="7498080"/>
            <a:ext cx="5303520" cy="914400"/>
            <a:chOff x="0" y="0"/>
            <a:chExt cx="707136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18Cr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492240" y="8375904"/>
            <a:ext cx="4937760" cy="1097280"/>
            <a:chOff x="0" y="0"/>
            <a:chExt cx="6583680" cy="1463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LPG import substitution savings for Bangladesh in Year 3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063727" y="5845807"/>
            <a:ext cx="5316217" cy="3487417"/>
            <a:chOff x="0" y="0"/>
            <a:chExt cx="7088289" cy="464988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069063" y="6058919"/>
            <a:ext cx="1305563" cy="1305563"/>
            <a:chOff x="0" y="0"/>
            <a:chExt cx="1740751" cy="174075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264640" y="6163056"/>
            <a:ext cx="914400" cy="914400"/>
            <a:chOff x="0" y="0"/>
            <a:chExt cx="1219200" cy="121920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070080" y="7498080"/>
            <a:ext cx="5303520" cy="914400"/>
            <a:chOff x="0" y="0"/>
            <a:chExt cx="7071360" cy="1219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70713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SDG 7, 11, 13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52960" y="8375904"/>
            <a:ext cx="4937760" cy="1097280"/>
            <a:chOff x="0" y="0"/>
            <a:chExt cx="6583680" cy="14630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Contributes to Clean Energy, Sustainable Cities &amp; Climate Action goals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1828800"/>
            <a:chOff x="0" y="0"/>
            <a:chExt cx="219456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RISK ASSESSMENT &amp; MITIGATION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1998983"/>
            <a:ext cx="9718043" cy="756923"/>
            <a:chOff x="0" y="0"/>
            <a:chExt cx="12957391" cy="1009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5730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957302">
                  <a:moveTo>
                    <a:pt x="16891" y="0"/>
                  </a:moveTo>
                  <a:lnTo>
                    <a:pt x="12940411" y="0"/>
                  </a:lnTo>
                  <a:cubicBezTo>
                    <a:pt x="12949809" y="0"/>
                    <a:pt x="12957302" y="7620"/>
                    <a:pt x="12957302" y="16891"/>
                  </a:cubicBezTo>
                  <a:lnTo>
                    <a:pt x="12957302" y="992251"/>
                  </a:lnTo>
                  <a:cubicBezTo>
                    <a:pt x="12957302" y="1001649"/>
                    <a:pt x="12949682" y="1009142"/>
                    <a:pt x="12940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2940411" y="975360"/>
                  </a:lnTo>
                  <a:lnTo>
                    <a:pt x="12940411" y="992251"/>
                  </a:lnTo>
                  <a:lnTo>
                    <a:pt x="12923520" y="992251"/>
                  </a:lnTo>
                  <a:lnTo>
                    <a:pt x="12923520" y="16891"/>
                  </a:lnTo>
                  <a:lnTo>
                    <a:pt x="12940411" y="16891"/>
                  </a:lnTo>
                  <a:lnTo>
                    <a:pt x="12940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320023" y="1998983"/>
            <a:ext cx="1945643" cy="756923"/>
            <a:chOff x="0" y="0"/>
            <a:chExt cx="259419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94102" cy="1009144"/>
            </a:xfrm>
            <a:custGeom>
              <a:avLst/>
              <a:gdLst/>
              <a:ahLst/>
              <a:cxnLst/>
              <a:rect r="r" b="b" t="t" l="l"/>
              <a:pathLst>
                <a:path h="1009144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92251"/>
                  </a:lnTo>
                  <a:cubicBezTo>
                    <a:pt x="2594102" y="1001649"/>
                    <a:pt x="2586482" y="1009142"/>
                    <a:pt x="25772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577211" y="975360"/>
                  </a:lnTo>
                  <a:lnTo>
                    <a:pt x="2577211" y="992251"/>
                  </a:lnTo>
                  <a:lnTo>
                    <a:pt x="2560320" y="99225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31703" y="1998983"/>
            <a:ext cx="5511803" cy="756923"/>
            <a:chOff x="0" y="0"/>
            <a:chExt cx="7349071" cy="1009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92251"/>
                  </a:lnTo>
                  <a:cubicBezTo>
                    <a:pt x="7348982" y="1001649"/>
                    <a:pt x="7341362" y="1009142"/>
                    <a:pt x="73320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332091" y="975360"/>
                  </a:lnTo>
                  <a:lnTo>
                    <a:pt x="7332091" y="992251"/>
                  </a:lnTo>
                  <a:lnTo>
                    <a:pt x="7315200" y="992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011680"/>
            <a:ext cx="9692640" cy="731520"/>
            <a:chOff x="0" y="0"/>
            <a:chExt cx="1292352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923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32720" y="2011680"/>
            <a:ext cx="1920240" cy="731520"/>
            <a:chOff x="0" y="0"/>
            <a:chExt cx="25603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60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0" y="2011680"/>
            <a:ext cx="5486400" cy="731520"/>
            <a:chOff x="0" y="0"/>
            <a:chExt cx="73152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315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Strategy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4830" y="2830830"/>
            <a:ext cx="9700260" cy="1141476"/>
            <a:chOff x="0" y="0"/>
            <a:chExt cx="12933680" cy="1521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328910" y="2830830"/>
            <a:ext cx="1927860" cy="1141476"/>
            <a:chOff x="0" y="0"/>
            <a:chExt cx="2570480" cy="1521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0590" y="2830830"/>
            <a:ext cx="5494020" cy="1141476"/>
            <a:chOff x="0" y="0"/>
            <a:chExt cx="7325360" cy="1521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2834640"/>
            <a:ext cx="9326880" cy="1133856"/>
            <a:chOff x="0" y="0"/>
            <a:chExt cx="1243584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Feedstock Supply Variability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66327" y="3114551"/>
            <a:ext cx="1671323" cy="574043"/>
            <a:chOff x="0" y="0"/>
            <a:chExt cx="2228431" cy="7653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479024" y="3127248"/>
            <a:ext cx="1645920" cy="548640"/>
            <a:chOff x="0" y="0"/>
            <a:chExt cx="21945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5840" y="2834640"/>
            <a:ext cx="5303520" cy="1133856"/>
            <a:chOff x="0" y="0"/>
            <a:chExt cx="707136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Multi-ward collection agreements + market food waste backup contracts with wet markets &amp; restaurants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4830" y="4019550"/>
            <a:ext cx="9700260" cy="1141476"/>
            <a:chOff x="0" y="0"/>
            <a:chExt cx="12933680" cy="1521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328910" y="4019550"/>
            <a:ext cx="1927860" cy="1141476"/>
            <a:chOff x="0" y="0"/>
            <a:chExt cx="2570480" cy="1521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340590" y="4019550"/>
            <a:ext cx="5494020" cy="1141476"/>
            <a:chOff x="0" y="0"/>
            <a:chExt cx="7325360" cy="1521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4023360"/>
            <a:ext cx="9326880" cy="1133856"/>
            <a:chOff x="0" y="0"/>
            <a:chExt cx="12435840" cy="15118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Regulatory &amp; Permit Delays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466327" y="4303271"/>
            <a:ext cx="1671323" cy="574043"/>
            <a:chOff x="0" y="0"/>
            <a:chExt cx="2228431" cy="7653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79024" y="4315968"/>
            <a:ext cx="1645920" cy="548640"/>
            <a:chOff x="0" y="0"/>
            <a:chExt cx="21945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35840" y="4023360"/>
            <a:ext cx="5303520" cy="1133856"/>
            <a:chOff x="0" y="0"/>
            <a:chExt cx="7071360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engagement with DoE, BIDA &amp; City Corporations; hire experienced compliance consultant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4830" y="5208270"/>
            <a:ext cx="9700260" cy="1141476"/>
            <a:chOff x="0" y="0"/>
            <a:chExt cx="12933680" cy="1521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328910" y="5208270"/>
            <a:ext cx="1927860" cy="1141476"/>
            <a:chOff x="0" y="0"/>
            <a:chExt cx="2570480" cy="15219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340590" y="5208270"/>
            <a:ext cx="5494020" cy="1141476"/>
            <a:chOff x="0" y="0"/>
            <a:chExt cx="7325360" cy="15219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" y="5212080"/>
            <a:ext cx="9326880" cy="1133856"/>
            <a:chOff x="0" y="0"/>
            <a:chExt cx="12435840" cy="15118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Competition from LPG Importers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466327" y="5491991"/>
            <a:ext cx="1671323" cy="574043"/>
            <a:chOff x="0" y="0"/>
            <a:chExt cx="2228431" cy="7653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479024" y="5504688"/>
            <a:ext cx="1645920" cy="548640"/>
            <a:chOff x="0" y="0"/>
            <a:chExt cx="21945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35840" y="5212080"/>
            <a:ext cx="5303520" cy="1133856"/>
            <a:chOff x="0" y="0"/>
            <a:chExt cx="7071360" cy="15118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10–15% below market LPG; market green credentials; focus B2B contracts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4830" y="6396990"/>
            <a:ext cx="9700260" cy="1141476"/>
            <a:chOff x="0" y="0"/>
            <a:chExt cx="12933680" cy="15219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328910" y="6396990"/>
            <a:ext cx="1927860" cy="1141476"/>
            <a:chOff x="0" y="0"/>
            <a:chExt cx="2570480" cy="15219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340590" y="6396990"/>
            <a:ext cx="5494020" cy="1141476"/>
            <a:chOff x="0" y="0"/>
            <a:chExt cx="7325360" cy="15219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31520" y="6400800"/>
            <a:ext cx="9326880" cy="1133856"/>
            <a:chOff x="0" y="0"/>
            <a:chExt cx="12435840" cy="15118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&amp; Operational Risk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66327" y="6680711"/>
            <a:ext cx="1671323" cy="574043"/>
            <a:chOff x="0" y="0"/>
            <a:chExt cx="2228431" cy="7653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479024" y="6693408"/>
            <a:ext cx="1645920" cy="548640"/>
            <a:chOff x="0" y="0"/>
            <a:chExt cx="219456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435840" y="6400800"/>
            <a:ext cx="5303520" cy="1133856"/>
            <a:chOff x="0" y="0"/>
            <a:chExt cx="7071360" cy="151180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Commission proven Indian/Chinese CSTR technology; hire 2 experienced biogas engineers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44830" y="7585710"/>
            <a:ext cx="9700260" cy="1141476"/>
            <a:chOff x="0" y="0"/>
            <a:chExt cx="12933680" cy="152196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328910" y="7585710"/>
            <a:ext cx="1927860" cy="1141476"/>
            <a:chOff x="0" y="0"/>
            <a:chExt cx="2570480" cy="15219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40590" y="7585710"/>
            <a:ext cx="5494020" cy="1141476"/>
            <a:chOff x="0" y="0"/>
            <a:chExt cx="7325360" cy="152196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FF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7589520"/>
            <a:ext cx="9326880" cy="1133856"/>
            <a:chOff x="0" y="0"/>
            <a:chExt cx="12435840" cy="151180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Gas Quality Below Standard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466327" y="7869431"/>
            <a:ext cx="1671323" cy="574043"/>
            <a:chOff x="0" y="0"/>
            <a:chExt cx="2228431" cy="7653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479024" y="7882128"/>
            <a:ext cx="1645920" cy="548640"/>
            <a:chOff x="0" y="0"/>
            <a:chExt cx="2194560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435840" y="7589520"/>
            <a:ext cx="5303520" cy="1133856"/>
            <a:chOff x="0" y="0"/>
            <a:chExt cx="7071360" cy="15118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 inline gas analyser; stringent QC before any cylinder is filled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44830" y="8774430"/>
            <a:ext cx="9700260" cy="1141476"/>
            <a:chOff x="0" y="0"/>
            <a:chExt cx="12933680" cy="152196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5080" y="5080"/>
              <a:ext cx="129235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29336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12933680">
                  <a:moveTo>
                    <a:pt x="5080" y="0"/>
                  </a:moveTo>
                  <a:lnTo>
                    <a:pt x="12928600" y="0"/>
                  </a:lnTo>
                  <a:cubicBezTo>
                    <a:pt x="12931394" y="0"/>
                    <a:pt x="12933680" y="2286"/>
                    <a:pt x="12933680" y="5080"/>
                  </a:cubicBezTo>
                  <a:lnTo>
                    <a:pt x="12933680" y="1516888"/>
                  </a:lnTo>
                  <a:cubicBezTo>
                    <a:pt x="12933680" y="1519682"/>
                    <a:pt x="12931394" y="1521968"/>
                    <a:pt x="129286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12928600" y="1511808"/>
                  </a:lnTo>
                  <a:lnTo>
                    <a:pt x="12928600" y="1516888"/>
                  </a:lnTo>
                  <a:lnTo>
                    <a:pt x="12923520" y="1516888"/>
                  </a:lnTo>
                  <a:lnTo>
                    <a:pt x="12923520" y="5080"/>
                  </a:lnTo>
                  <a:lnTo>
                    <a:pt x="12928600" y="5080"/>
                  </a:lnTo>
                  <a:lnTo>
                    <a:pt x="129286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328910" y="8774430"/>
            <a:ext cx="1927860" cy="1141476"/>
            <a:chOff x="0" y="0"/>
            <a:chExt cx="2570480" cy="152196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5080" y="5080"/>
              <a:ext cx="2560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570480" cy="1521968"/>
            </a:xfrm>
            <a:custGeom>
              <a:avLst/>
              <a:gdLst/>
              <a:ahLst/>
              <a:cxnLst/>
              <a:rect r="r" b="b" t="t" l="l"/>
              <a:pathLst>
                <a:path h="1521968" w="2570480">
                  <a:moveTo>
                    <a:pt x="5080" y="0"/>
                  </a:moveTo>
                  <a:lnTo>
                    <a:pt x="2565400" y="0"/>
                  </a:lnTo>
                  <a:cubicBezTo>
                    <a:pt x="2568194" y="0"/>
                    <a:pt x="2570480" y="2286"/>
                    <a:pt x="2570480" y="5080"/>
                  </a:cubicBezTo>
                  <a:lnTo>
                    <a:pt x="2570480" y="1516888"/>
                  </a:lnTo>
                  <a:cubicBezTo>
                    <a:pt x="2570480" y="1519682"/>
                    <a:pt x="2568194" y="1521968"/>
                    <a:pt x="256540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2565400" y="1511808"/>
                  </a:lnTo>
                  <a:lnTo>
                    <a:pt x="2565400" y="1516888"/>
                  </a:lnTo>
                  <a:lnTo>
                    <a:pt x="2560320" y="1516888"/>
                  </a:lnTo>
                  <a:lnTo>
                    <a:pt x="2560320" y="5080"/>
                  </a:lnTo>
                  <a:lnTo>
                    <a:pt x="2565400" y="5080"/>
                  </a:lnTo>
                  <a:lnTo>
                    <a:pt x="256540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340590" y="8774430"/>
            <a:ext cx="5494020" cy="1141476"/>
            <a:chOff x="0" y="0"/>
            <a:chExt cx="7325360" cy="152196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5080" y="5080"/>
              <a:ext cx="7315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325360" cy="1521968"/>
            </a:xfrm>
            <a:custGeom>
              <a:avLst/>
              <a:gdLst/>
              <a:ahLst/>
              <a:cxnLst/>
              <a:rect r="r" b="b" t="t" l="l"/>
              <a:pathLst>
                <a:path h="1521968" w="7325360">
                  <a:moveTo>
                    <a:pt x="5080" y="0"/>
                  </a:moveTo>
                  <a:lnTo>
                    <a:pt x="7320280" y="0"/>
                  </a:lnTo>
                  <a:cubicBezTo>
                    <a:pt x="7323074" y="0"/>
                    <a:pt x="7325360" y="2286"/>
                    <a:pt x="7325360" y="5080"/>
                  </a:cubicBezTo>
                  <a:lnTo>
                    <a:pt x="7325360" y="1516888"/>
                  </a:lnTo>
                  <a:cubicBezTo>
                    <a:pt x="7325360" y="1519682"/>
                    <a:pt x="7323074" y="1521968"/>
                    <a:pt x="7320280" y="1521968"/>
                  </a:cubicBezTo>
                  <a:lnTo>
                    <a:pt x="5080" y="1521968"/>
                  </a:lnTo>
                  <a:cubicBezTo>
                    <a:pt x="2286" y="1521968"/>
                    <a:pt x="0" y="1519682"/>
                    <a:pt x="0" y="151688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1516888"/>
                  </a:lnTo>
                  <a:lnTo>
                    <a:pt x="5080" y="1516888"/>
                  </a:lnTo>
                  <a:lnTo>
                    <a:pt x="5080" y="1511808"/>
                  </a:lnTo>
                  <a:lnTo>
                    <a:pt x="7320280" y="1511808"/>
                  </a:lnTo>
                  <a:lnTo>
                    <a:pt x="7320280" y="1516888"/>
                  </a:lnTo>
                  <a:lnTo>
                    <a:pt x="7315200" y="1516888"/>
                  </a:lnTo>
                  <a:lnTo>
                    <a:pt x="7315200" y="5080"/>
                  </a:lnTo>
                  <a:lnTo>
                    <a:pt x="7320280" y="5080"/>
                  </a:lnTo>
                  <a:lnTo>
                    <a:pt x="7320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731520" y="8778240"/>
            <a:ext cx="9326880" cy="1133856"/>
            <a:chOff x="0" y="0"/>
            <a:chExt cx="12435840" cy="151180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2435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80" r="0" b="-11028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24358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12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 / Safety Incident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466327" y="9058151"/>
            <a:ext cx="1671323" cy="574043"/>
            <a:chOff x="0" y="0"/>
            <a:chExt cx="2228431" cy="7653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2194687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687">
                  <a:moveTo>
                    <a:pt x="0" y="195072"/>
                  </a:moveTo>
                  <a:cubicBezTo>
                    <a:pt x="0" y="87376"/>
                    <a:pt x="90043" y="0"/>
                    <a:pt x="201041" y="0"/>
                  </a:cubicBezTo>
                  <a:lnTo>
                    <a:pt x="1993646" y="0"/>
                  </a:lnTo>
                  <a:cubicBezTo>
                    <a:pt x="2104644" y="0"/>
                    <a:pt x="2194687" y="87376"/>
                    <a:pt x="2194687" y="195072"/>
                  </a:cubicBezTo>
                  <a:lnTo>
                    <a:pt x="2194687" y="536448"/>
                  </a:lnTo>
                  <a:cubicBezTo>
                    <a:pt x="2194687" y="644144"/>
                    <a:pt x="2104644" y="731520"/>
                    <a:pt x="1993646" y="731520"/>
                  </a:cubicBezTo>
                  <a:lnTo>
                    <a:pt x="201041" y="731520"/>
                  </a:lnTo>
                  <a:cubicBezTo>
                    <a:pt x="90043" y="731520"/>
                    <a:pt x="0" y="644144"/>
                    <a:pt x="0" y="536448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28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469">
                  <a:moveTo>
                    <a:pt x="0" y="211963"/>
                  </a:moveTo>
                  <a:cubicBezTo>
                    <a:pt x="0" y="94488"/>
                    <a:pt x="98044" y="0"/>
                    <a:pt x="217932" y="0"/>
                  </a:cubicBezTo>
                  <a:lnTo>
                    <a:pt x="2010537" y="0"/>
                  </a:lnTo>
                  <a:lnTo>
                    <a:pt x="2010537" y="16891"/>
                  </a:lnTo>
                  <a:lnTo>
                    <a:pt x="2010537" y="0"/>
                  </a:lnTo>
                  <a:cubicBezTo>
                    <a:pt x="2130425" y="0"/>
                    <a:pt x="2228469" y="94488"/>
                    <a:pt x="2228469" y="211963"/>
                  </a:cubicBezTo>
                  <a:lnTo>
                    <a:pt x="2211578" y="211963"/>
                  </a:lnTo>
                  <a:lnTo>
                    <a:pt x="2228469" y="211963"/>
                  </a:lnTo>
                  <a:lnTo>
                    <a:pt x="2228469" y="553339"/>
                  </a:lnTo>
                  <a:lnTo>
                    <a:pt x="2211578" y="553339"/>
                  </a:lnTo>
                  <a:lnTo>
                    <a:pt x="2228469" y="553339"/>
                  </a:lnTo>
                  <a:cubicBezTo>
                    <a:pt x="2228469" y="670941"/>
                    <a:pt x="2130425" y="765302"/>
                    <a:pt x="2010537" y="765302"/>
                  </a:cubicBezTo>
                  <a:lnTo>
                    <a:pt x="2010537" y="748411"/>
                  </a:lnTo>
                  <a:lnTo>
                    <a:pt x="2010537" y="765302"/>
                  </a:lnTo>
                  <a:lnTo>
                    <a:pt x="217932" y="765302"/>
                  </a:lnTo>
                  <a:lnTo>
                    <a:pt x="217932" y="748411"/>
                  </a:lnTo>
                  <a:lnTo>
                    <a:pt x="217932" y="765302"/>
                  </a:lnTo>
                  <a:cubicBezTo>
                    <a:pt x="98044" y="765429"/>
                    <a:pt x="0" y="670941"/>
                    <a:pt x="0" y="55333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51256"/>
                    <a:pt x="115824" y="731520"/>
                    <a:pt x="217932" y="731520"/>
                  </a:cubicBezTo>
                  <a:lnTo>
                    <a:pt x="2010537" y="731520"/>
                  </a:lnTo>
                  <a:cubicBezTo>
                    <a:pt x="2112645" y="731520"/>
                    <a:pt x="2194560" y="651256"/>
                    <a:pt x="2194560" y="553339"/>
                  </a:cubicBezTo>
                  <a:lnTo>
                    <a:pt x="2194560" y="211963"/>
                  </a:lnTo>
                  <a:cubicBezTo>
                    <a:pt x="2194560" y="114046"/>
                    <a:pt x="2112645" y="33782"/>
                    <a:pt x="2010537" y="33782"/>
                  </a:cubicBezTo>
                  <a:lnTo>
                    <a:pt x="217932" y="33782"/>
                  </a:lnTo>
                  <a:lnTo>
                    <a:pt x="217932" y="16891"/>
                  </a:lnTo>
                  <a:lnTo>
                    <a:pt x="217932" y="33909"/>
                  </a:lnTo>
                  <a:cubicBezTo>
                    <a:pt x="115824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479024" y="9070848"/>
            <a:ext cx="1645920" cy="548640"/>
            <a:chOff x="0" y="0"/>
            <a:chExt cx="219456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435840" y="8778240"/>
            <a:ext cx="5303520" cy="1133856"/>
            <a:chOff x="0" y="0"/>
            <a:chExt cx="7071360" cy="151180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0713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39" r="0" b="-41139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707136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950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NFPA &amp; Bangladesh BGFCL safety standards; regular drills; comprehensive insurance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841497"/>
            <a:ext cx="10083803" cy="10083803"/>
            <a:chOff x="0" y="0"/>
            <a:chExt cx="13445071" cy="13445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3411199" cy="13411201"/>
            </a:xfrm>
            <a:custGeom>
              <a:avLst/>
              <a:gdLst/>
              <a:ahLst/>
              <a:cxnLst/>
              <a:rect r="r" b="b" t="t" l="l"/>
              <a:pathLst>
                <a:path h="13411201" w="13411199">
                  <a:moveTo>
                    <a:pt x="0" y="6705600"/>
                  </a:moveTo>
                  <a:cubicBezTo>
                    <a:pt x="0" y="3002153"/>
                    <a:pt x="3002153" y="0"/>
                    <a:pt x="6705600" y="0"/>
                  </a:cubicBezTo>
                  <a:cubicBezTo>
                    <a:pt x="10409047" y="0"/>
                    <a:pt x="13411199" y="3002153"/>
                    <a:pt x="13411199" y="6705600"/>
                  </a:cubicBezTo>
                  <a:cubicBezTo>
                    <a:pt x="13411199" y="10409047"/>
                    <a:pt x="10409047" y="13411201"/>
                    <a:pt x="6705600" y="13411201"/>
                  </a:cubicBezTo>
                  <a:cubicBezTo>
                    <a:pt x="3002153" y="13411201"/>
                    <a:pt x="0" y="10409047"/>
                    <a:pt x="0" y="6705600"/>
                  </a:cubicBezTo>
                  <a:close/>
                </a:path>
              </a:pathLst>
            </a:custGeom>
            <a:solidFill>
              <a:srgbClr val="2D6A4F">
                <a:alpha val="1568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2" cy="13444982"/>
            </a:xfrm>
            <a:custGeom>
              <a:avLst/>
              <a:gdLst/>
              <a:ahLst/>
              <a:cxnLst/>
              <a:rect r="r" b="b" t="t" l="l"/>
              <a:pathLst>
                <a:path h="13444982" w="13444982">
                  <a:moveTo>
                    <a:pt x="0" y="6722491"/>
                  </a:moveTo>
                  <a:cubicBezTo>
                    <a:pt x="0" y="3009773"/>
                    <a:pt x="3009773" y="0"/>
                    <a:pt x="6722491" y="0"/>
                  </a:cubicBezTo>
                  <a:lnTo>
                    <a:pt x="6722491" y="16891"/>
                  </a:lnTo>
                  <a:lnTo>
                    <a:pt x="6722491" y="0"/>
                  </a:lnTo>
                  <a:cubicBezTo>
                    <a:pt x="10435210" y="0"/>
                    <a:pt x="13444982" y="3009773"/>
                    <a:pt x="13444982" y="6722491"/>
                  </a:cubicBezTo>
                  <a:cubicBezTo>
                    <a:pt x="13444982" y="10435210"/>
                    <a:pt x="10435210" y="13444982"/>
                    <a:pt x="6722491" y="13444982"/>
                  </a:cubicBezTo>
                  <a:lnTo>
                    <a:pt x="6722491" y="13428092"/>
                  </a:lnTo>
                  <a:lnTo>
                    <a:pt x="6722491" y="13444982"/>
                  </a:lnTo>
                  <a:cubicBezTo>
                    <a:pt x="3009773" y="13445110"/>
                    <a:pt x="0" y="10435336"/>
                    <a:pt x="0" y="6722491"/>
                  </a:cubicBezTo>
                  <a:lnTo>
                    <a:pt x="16891" y="6722491"/>
                  </a:lnTo>
                  <a:lnTo>
                    <a:pt x="31115" y="6731635"/>
                  </a:lnTo>
                  <a:cubicBezTo>
                    <a:pt x="27051" y="6737985"/>
                    <a:pt x="19304" y="6740779"/>
                    <a:pt x="12065" y="6738748"/>
                  </a:cubicBezTo>
                  <a:cubicBezTo>
                    <a:pt x="4826" y="6736715"/>
                    <a:pt x="0" y="6729984"/>
                    <a:pt x="0" y="6722491"/>
                  </a:cubicBezTo>
                  <a:moveTo>
                    <a:pt x="33909" y="6722491"/>
                  </a:moveTo>
                  <a:lnTo>
                    <a:pt x="16891" y="6722491"/>
                  </a:lnTo>
                  <a:lnTo>
                    <a:pt x="2667" y="6713348"/>
                  </a:lnTo>
                  <a:cubicBezTo>
                    <a:pt x="6731" y="6706998"/>
                    <a:pt x="14478" y="6704203"/>
                    <a:pt x="21717" y="6706235"/>
                  </a:cubicBezTo>
                  <a:cubicBezTo>
                    <a:pt x="28956" y="6708267"/>
                    <a:pt x="33909" y="6714998"/>
                    <a:pt x="33909" y="6722491"/>
                  </a:cubicBezTo>
                  <a:cubicBezTo>
                    <a:pt x="33909" y="10416540"/>
                    <a:pt x="3028442" y="13411200"/>
                    <a:pt x="6722491" y="13411200"/>
                  </a:cubicBezTo>
                  <a:cubicBezTo>
                    <a:pt x="10416540" y="13411200"/>
                    <a:pt x="13411200" y="10416540"/>
                    <a:pt x="13411200" y="6722491"/>
                  </a:cubicBezTo>
                  <a:lnTo>
                    <a:pt x="13428090" y="6722491"/>
                  </a:lnTo>
                  <a:lnTo>
                    <a:pt x="13411200" y="6722491"/>
                  </a:lnTo>
                  <a:cubicBezTo>
                    <a:pt x="13411200" y="3028442"/>
                    <a:pt x="10416540" y="33909"/>
                    <a:pt x="6722491" y="33909"/>
                  </a:cubicBezTo>
                  <a:lnTo>
                    <a:pt x="6722491" y="16891"/>
                  </a:lnTo>
                  <a:lnTo>
                    <a:pt x="6722491" y="33909"/>
                  </a:lnTo>
                  <a:cubicBezTo>
                    <a:pt x="3028442" y="33909"/>
                    <a:pt x="33909" y="3028442"/>
                    <a:pt x="33909" y="6722491"/>
                  </a:cubicBezTo>
                  <a:close/>
                </a:path>
              </a:pathLst>
            </a:custGeom>
            <a:solidFill>
              <a:srgbClr val="2D6A4F">
                <a:alpha val="1568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755897" y="583946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2D6A4F">
                <a:alpha val="1215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2D6A4F">
                <a:alpha val="1215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008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800">
                  <a:solidFill>
                    <a:srgbClr val="95D5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 THE GREEN REVOLUTION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737360"/>
            <a:ext cx="16459200" cy="3108960"/>
            <a:chOff x="0" y="0"/>
            <a:chExt cx="21945600" cy="414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945600" cy="4164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Invest in Bangladesh's</a:t>
              </a:r>
            </a:p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Cleanest Energy Future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88103" y="4961639"/>
            <a:ext cx="5511803" cy="98555"/>
            <a:chOff x="0" y="0"/>
            <a:chExt cx="7349071" cy="131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5266944"/>
            <a:ext cx="15727680" cy="1645920"/>
            <a:chOff x="0" y="0"/>
            <a:chExt cx="2097024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097024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95D5B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 are seeking BDT 11.5 Crore in seed investment to build Bangladesh's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95D5B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first commercial household food-waste biogas cylinder plant.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7463" y="7156199"/>
            <a:ext cx="4780283" cy="2219963"/>
            <a:chOff x="0" y="0"/>
            <a:chExt cx="6373711" cy="2959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7168896"/>
            <a:ext cx="4754880" cy="768096"/>
            <a:chOff x="0" y="0"/>
            <a:chExt cx="633984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3398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Equity Investment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160" y="7936992"/>
            <a:ext cx="4754880" cy="1316736"/>
            <a:chOff x="0" y="0"/>
            <a:chExt cx="633984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33984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6 Crore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(52% stake)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62423" y="7156199"/>
            <a:ext cx="4780283" cy="2219963"/>
            <a:chOff x="0" y="0"/>
            <a:chExt cx="637371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75120" y="7168896"/>
            <a:ext cx="4754880" cy="768096"/>
            <a:chOff x="0" y="0"/>
            <a:chExt cx="633984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3398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Debt Financing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75120" y="7936992"/>
            <a:ext cx="4754880" cy="1316736"/>
            <a:chOff x="0" y="0"/>
            <a:chExt cx="6339840" cy="17556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33984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4 Crore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(Green Bond / Bank)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57383" y="7156199"/>
            <a:ext cx="4780283" cy="2219963"/>
            <a:chOff x="0" y="0"/>
            <a:chExt cx="6373711" cy="2959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70080" y="7168896"/>
            <a:ext cx="4754880" cy="768096"/>
            <a:chOff x="0" y="0"/>
            <a:chExt cx="633984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3398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Grant / GoB Support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70080" y="7936992"/>
            <a:ext cx="4754880" cy="1316736"/>
            <a:chOff x="0" y="0"/>
            <a:chExt cx="6339840" cy="17556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33984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1.5 Crore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(IDCOL / SREDA)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9546336"/>
            <a:ext cx="16459200" cy="694944"/>
            <a:chOff x="0" y="0"/>
            <a:chExt cx="21945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95D5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📧 jakirhossainjoy77@gmail.com   |   📞 /Whatsapp: +8801707370333     |   📍 Dhaka, Bangladesh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DAHIt6Pt-UI</dc:identifier>
  <dcterms:modified xsi:type="dcterms:W3CDTF">2011-08-01T06:04:30Z</dcterms:modified>
  <cp:revision>1</cp:revision>
  <dc:title>Biogas_Business_Plan.pptx</dc:title>
</cp:coreProperties>
</file>